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9"/>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8288000" cy="10287000"/>
  <p:notesSz cx="6858000" cy="9144000"/>
  <p:embeddedFontLst>
    <p:embeddedFont>
      <p:font typeface="Work Sans Bold" charset="1" panose="00000000000000000000"/>
      <p:regular r:id="rId22"/>
    </p:embeddedFont>
    <p:embeddedFont>
      <p:font typeface="Poppins Bold" charset="1" panose="00000800000000000000"/>
      <p:regular r:id="rId23"/>
    </p:embeddedFont>
    <p:embeddedFont>
      <p:font typeface="Montserrat Bold" charset="1" panose="00000800000000000000"/>
      <p:regular r:id="rId25"/>
    </p:embeddedFont>
    <p:embeddedFont>
      <p:font typeface="Proxima Nova" charset="1" panose="02000506030000020004"/>
      <p:regular r:id="rId26"/>
    </p:embeddedFont>
    <p:embeddedFont>
      <p:font typeface="Work Sans" charset="1" panose="00000000000000000000"/>
      <p:regular r:id="rId3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notesMasters/notesMaster1.xml" Type="http://schemas.openxmlformats.org/officeDocument/2006/relationships/notesMaster"/><Relationship Id="rId2" Target="presProps.xml" Type="http://schemas.openxmlformats.org/officeDocument/2006/relationships/presProps"/><Relationship Id="rId20" Target="theme/theme2.xml" Type="http://schemas.openxmlformats.org/officeDocument/2006/relationships/theme"/><Relationship Id="rId21" Target="notesSlides/notesSlide1.xml" Type="http://schemas.openxmlformats.org/officeDocument/2006/relationships/notesSlide"/><Relationship Id="rId22" Target="fonts/font22.fntdata" Type="http://schemas.openxmlformats.org/officeDocument/2006/relationships/font"/><Relationship Id="rId23" Target="fonts/font23.fntdata" Type="http://schemas.openxmlformats.org/officeDocument/2006/relationships/font"/><Relationship Id="rId24" Target="notesSlides/notesSlide2.xml" Type="http://schemas.openxmlformats.org/officeDocument/2006/relationships/notesSlide"/><Relationship Id="rId25" Target="fonts/font25.fntdata" Type="http://schemas.openxmlformats.org/officeDocument/2006/relationships/font"/><Relationship Id="rId26" Target="fonts/font26.fntdata" Type="http://schemas.openxmlformats.org/officeDocument/2006/relationships/font"/><Relationship Id="rId27" Target="notesSlides/notesSlide3.xml" Type="http://schemas.openxmlformats.org/officeDocument/2006/relationships/notesSlide"/><Relationship Id="rId28" Target="notesSlides/notesSlide4.xml" Type="http://schemas.openxmlformats.org/officeDocument/2006/relationships/notesSlide"/><Relationship Id="rId29" Target="notesSlides/notesSlide5.xml" Type="http://schemas.openxmlformats.org/officeDocument/2006/relationships/notesSlide"/><Relationship Id="rId3" Target="viewProps.xml" Type="http://schemas.openxmlformats.org/officeDocument/2006/relationships/viewProps"/><Relationship Id="rId30" Target="notesSlides/notesSlide6.xml" Type="http://schemas.openxmlformats.org/officeDocument/2006/relationships/notesSlide"/><Relationship Id="rId31" Target="notesSlides/notesSlide7.xml" Type="http://schemas.openxmlformats.org/officeDocument/2006/relationships/notesSlide"/><Relationship Id="rId32" Target="notesSlides/notesSlide8.xml" Type="http://schemas.openxmlformats.org/officeDocument/2006/relationships/notesSlide"/><Relationship Id="rId33" Target="notesSlides/notesSlide9.xml" Type="http://schemas.openxmlformats.org/officeDocument/2006/relationships/notesSlide"/><Relationship Id="rId34" Target="fonts/font34.fntdata" Type="http://schemas.openxmlformats.org/officeDocument/2006/relationships/font"/><Relationship Id="rId35" Target="notesSlides/notesSlide10.xml" Type="http://schemas.openxmlformats.org/officeDocument/2006/relationships/notesSlide"/><Relationship Id="rId36" Target="notesSlides/notesSlide11.xml" Type="http://schemas.openxmlformats.org/officeDocument/2006/relationships/notesSlide"/><Relationship Id="rId37" Target="notesSlides/notesSlide12.xml" Type="http://schemas.openxmlformats.org/officeDocument/2006/relationships/notesSlide"/><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Hello everyone, we are Cecile, Marisa, Paulina and Samia, and today we’ll walk you through our analysis of the Wonka Sales Performance to identify where profitability is strong and where the business can scale smarter.</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Our client is a B2B supplier of chocolate and related products.</a:t>
            </a:r>
          </a:p>
          <a:p>
            <a:r>
              <a:rPr lang="en-US"/>
              <a:t>Their key question is simple: Is our business profitable today, and how can we increase profitability going forward?</a:t>
            </a:r>
          </a:p>
          <a:p>
            <a:r>
              <a:rPr lang="en-US"/>
              <a:t/>
            </a:r>
          </a:p>
          <a:p>
            <a:r>
              <a:rPr lang="en-US"/>
              <a:t>To answer this, we examined performance from three angles:</a:t>
            </a:r>
          </a:p>
          <a:p>
            <a:r>
              <a:rPr lang="en-US"/>
              <a:t>- factories</a:t>
            </a:r>
          </a:p>
          <a:p>
            <a:r>
              <a:rPr lang="en-US"/>
              <a:t>- products</a:t>
            </a:r>
          </a:p>
          <a:p>
            <a:r>
              <a:rPr lang="en-US"/>
              <a:t>- customers</a:t>
            </a:r>
          </a:p>
          <a:p>
            <a:r>
              <a:rPr lang="en-US"/>
              <a:t/>
            </a:r>
          </a:p>
          <a:p>
            <a:r>
              <a:rPr lang="en-US"/>
              <a:t>Our goal was to understand where profit is actually being generated, and which areas require strategic decisions.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This is our ERD schema. </a:t>
            </a:r>
          </a:p>
          <a:p>
            <a:r>
              <a:rPr lang="en-US"/>
              <a:t/>
            </a:r>
          </a:p>
          <a:p>
            <a:r>
              <a:rPr lang="en-US"/>
              <a:t>To analyse this, we cleaned and structured the raw dataset into relational tables for Customers, Orders, Products, Factories, and Financial Figures as a bridge.</a:t>
            </a:r>
          </a:p>
          <a:p>
            <a:r>
              <a:rPr lang="en-US"/>
              <a:t/>
            </a:r>
          </a:p>
          <a:p>
            <a:r>
              <a:rPr lang="en-US"/>
              <a:t>This allowed us to quantify profitability per factory, per product, and per customer using SQL and Python.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million-dollar question is: are we genuinely riding the wellness wave, or just pretending?</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Key risk: </a:t>
            </a:r>
          </a:p>
          <a:p>
            <a:r>
              <a:rPr lang="en-US"/>
              <a:t/>
            </a:r>
          </a:p>
          <a:p>
            <a:r>
              <a:rPr lang="en-US"/>
              <a:t>Profit is dangerously concentrated in the 60–69% margin band, leaving the business highly exposed if this segment experiences any decline in volume or margin.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Our second insight comes from factory performance.</a:t>
            </a:r>
          </a:p>
          <a:p>
            <a:r>
              <a:rPr lang="en-US"/>
              <a:t/>
            </a:r>
          </a:p>
          <a:p>
            <a:r>
              <a:rPr lang="en-US"/>
              <a:t>Lot’s O’ Nuts and Wicked Choccy’s dominate the company's profits, while Secret Factory contributes very little.</a:t>
            </a:r>
          </a:p>
          <a:p>
            <a:r>
              <a:rPr lang="en-US"/>
              <a:t/>
            </a:r>
          </a:p>
          <a:p>
            <a:r>
              <a:rPr lang="en-US"/>
              <a:t>This concentration is risky. If either top-performing factory faces operational issues, the company’s revenue would be severely impacted.</a:t>
            </a:r>
          </a:p>
          <a:p>
            <a:r>
              <a:rPr lang="en-US"/>
              <a:t/>
            </a:r>
          </a:p>
          <a:p>
            <a:r>
              <a:rPr lang="en-US"/>
              <a:t>The company should diversify production or improve underperforming factories to reduce dependency and stabilise profit streams.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Now let's move to products.</a:t>
            </a:r>
          </a:p>
          <a:p>
            <a:r>
              <a:rPr lang="en-US"/>
              <a:t/>
            </a:r>
          </a:p>
          <a:p>
            <a:r>
              <a:rPr lang="en-US"/>
              <a:t>Here we see that Wonka Bar variants overwhelmingly drive total gross profit.</a:t>
            </a:r>
          </a:p>
          <a:p>
            <a:r>
              <a:rPr lang="en-US"/>
              <a:t>the others together represent over half of total profitability.</a:t>
            </a:r>
          </a:p>
          <a:p>
            <a:r>
              <a:rPr lang="en-US"/>
              <a:t/>
            </a:r>
          </a:p>
          <a:p>
            <a:r>
              <a:rPr lang="en-US"/>
              <a:t>Only a handful of items contribute meaningfully.</a:t>
            </a:r>
          </a:p>
          <a:p>
            <a:r>
              <a:rPr lang="en-US"/>
              <a:t/>
            </a:r>
          </a:p>
          <a:p>
            <a:r>
              <a:rPr lang="en-US"/>
              <a:t>Profitability is not evenly spread. </a:t>
            </a:r>
          </a:p>
          <a:p>
            <a:r>
              <a:rPr lang="en-US"/>
              <a:t/>
            </a:r>
          </a:p>
          <a:p>
            <a:r>
              <a:rPr lang="en-US"/>
              <a:t>This suggests strong customer preference for Wonka bars and lower traction for other items.</a:t>
            </a:r>
          </a:p>
          <a:p>
            <a:r>
              <a:rPr lang="en-US"/>
              <a:t/>
            </a:r>
          </a:p>
          <a:p>
            <a:r>
              <a:rPr lang="en-US"/>
              <a:t>The company should prioritise production, distribution, and marketing of high-profit items while reconsidering low-profit that dilute operational efficiency.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When we look at profit margin, the pattern becomes even clearer.</a:t>
            </a:r>
          </a:p>
          <a:p>
            <a:r>
              <a:rPr lang="en-US"/>
              <a:t/>
            </a:r>
          </a:p>
          <a:p>
            <a:r>
              <a:rPr lang="en-US"/>
              <a:t>Products like Everlasting Gobstopper, Hair Toffee, Nutty Crunch Surprise, and Scrumdiddlyumptious deliver margins above 70–80%.</a:t>
            </a:r>
          </a:p>
          <a:p>
            <a:r>
              <a:rPr lang="en-US"/>
              <a:t/>
            </a:r>
          </a:p>
          <a:p>
            <a:r>
              <a:rPr lang="en-US"/>
              <a:t>In contrast, Kazookles and Fun Dip barely produce any margin at all.</a:t>
            </a:r>
          </a:p>
          <a:p>
            <a:r>
              <a:rPr lang="en-US"/>
              <a:t/>
            </a:r>
          </a:p>
          <a:p>
            <a:r>
              <a:rPr lang="en-US"/>
              <a:t>High margin does not depend on volume. Premium items consistently outperform in profitability efficiency.</a:t>
            </a:r>
          </a:p>
          <a:p>
            <a:r>
              <a:rPr lang="en-US"/>
              <a:t/>
            </a:r>
          </a:p>
          <a:p>
            <a:r>
              <a:rPr lang="en-US"/>
              <a:t>The business achieves the best ROI when selling premium products, even if volumes are lower.</a:t>
            </a:r>
          </a:p>
          <a:p>
            <a:r>
              <a:rPr lang="en-US"/>
              <a:t/>
            </a:r>
          </a:p>
          <a:p>
            <a:r>
              <a:rPr lang="en-US"/>
              <a:t>Management should consider:</a:t>
            </a:r>
          </a:p>
          <a:p>
            <a:r>
              <a:rPr lang="en-US"/>
              <a:t>- increasing prices on premium high-margin items,</a:t>
            </a:r>
          </a:p>
          <a:p>
            <a:r>
              <a:rPr lang="en-US"/>
              <a:t>- reducing or reformulating unprofitable products,</a:t>
            </a:r>
          </a:p>
          <a:p>
            <a:r>
              <a:rPr lang="en-US"/>
              <a:t>- and shifting marketing focus toward the top margin performers.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Our customer analysis shows that some customers generate high profit with relatively low unit purchases, because they buy the most profitable items.</a:t>
            </a:r>
          </a:p>
          <a:p>
            <a:r>
              <a:rPr lang="en-US"/>
              <a:t/>
            </a:r>
          </a:p>
          <a:p>
            <a:r>
              <a:rPr lang="en-US"/>
              <a:t>Customer segmentation must shift from volume-based to value-based. Identify premium customers and incentivise them with loyalty programs or exclusive offers.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For our conclusions, bringing everything together:</a:t>
            </a:r>
          </a:p>
          <a:p>
            <a:r>
              <a:rPr lang="en-US"/>
              <a:t/>
            </a:r>
          </a:p>
          <a:p>
            <a:r>
              <a:rPr lang="en-US"/>
              <a:t>1. Factory performance is highly uneven, creating operational risk but also opportunity for scaling the best performers.</a:t>
            </a:r>
          </a:p>
          <a:p>
            <a:r>
              <a:rPr lang="en-US"/>
              <a:t>2. Product profitability is heavily concentrated in a few Wonka Bars.</a:t>
            </a:r>
          </a:p>
          <a:p>
            <a:r>
              <a:rPr lang="en-US"/>
              <a:t>Expanding this line has the highest ROI.</a:t>
            </a:r>
          </a:p>
          <a:p>
            <a:r>
              <a:rPr lang="en-US"/>
              <a:t>3. Customer profitability depends more on what they buy, not how much.</a:t>
            </a:r>
          </a:p>
          <a:p>
            <a:r>
              <a:rPr lang="en-US"/>
              <a:t>We should strategically influence product mix per customer rather than pushing volume.</a:t>
            </a:r>
          </a:p>
          <a:p>
            <a:r>
              <a:rPr lang="en-US"/>
              <a:t/>
            </a:r>
          </a:p>
          <a:p>
            <a:r>
              <a:rPr lang="en-US"/>
              <a:t>Limitations-wised, our analysis is strong, but we acknowledge some limitations:</a:t>
            </a:r>
          </a:p>
          <a:p>
            <a:r>
              <a:rPr lang="en-US"/>
              <a:t>- We lack cost structure per factory, so we can’t fully diagnose why some are unprofitable.</a:t>
            </a:r>
          </a:p>
          <a:p>
            <a:r>
              <a:rPr lang="en-US"/>
              <a:t>- We don’t have marketing or regional demand data, which likely affects product performance.</a:t>
            </a:r>
          </a:p>
          <a:p>
            <a:r>
              <a:rPr lang="en-US"/>
              <a:t>- We don’t know each factory’s production capacity, which may constrain output.</a:t>
            </a:r>
          </a:p>
          <a:p>
            <a:r>
              <a:rPr lang="en-US"/>
              <a:t>- Customer segmentation data is limited, preventing deeper behavioral insights.</a:t>
            </a:r>
          </a:p>
          <a:p>
            <a:r>
              <a:rPr lang="en-US"/>
              <a:t/>
            </a:r>
          </a:p>
          <a:p>
            <a:r>
              <a:rPr lang="en-US"/>
              <a:t>Despite these limitations, our findings provide a solid foundation for strategic recommendations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For our conclusions, bringing everything together:</a:t>
            </a:r>
          </a:p>
          <a:p>
            <a:r>
              <a:rPr lang="en-US"/>
              <a:t/>
            </a:r>
          </a:p>
          <a:p>
            <a:r>
              <a:rPr lang="en-US"/>
              <a:t>1. Factory performance is highly uneven, creating operational risk but also opportunity for scaling the best performers.</a:t>
            </a:r>
          </a:p>
          <a:p>
            <a:r>
              <a:rPr lang="en-US"/>
              <a:t>2. Product profitability is heavily concentrated in a few Wonka Bars.</a:t>
            </a:r>
          </a:p>
          <a:p>
            <a:r>
              <a:rPr lang="en-US"/>
              <a:t>Expanding this line has the highest ROI.</a:t>
            </a:r>
          </a:p>
          <a:p>
            <a:r>
              <a:rPr lang="en-US"/>
              <a:t>3. Customer profitability depends more on what they buy, not how much.</a:t>
            </a:r>
          </a:p>
          <a:p>
            <a:r>
              <a:rPr lang="en-US"/>
              <a:t>We should strategically influence product mix per customer rather than pushing volume.</a:t>
            </a:r>
          </a:p>
          <a:p>
            <a:r>
              <a:rPr lang="en-US"/>
              <a:t/>
            </a:r>
          </a:p>
          <a:p>
            <a:r>
              <a:rPr lang="en-US"/>
              <a:t>Limitations-wised, our analysis is strong, but we acknowledge some limitations:</a:t>
            </a:r>
          </a:p>
          <a:p>
            <a:r>
              <a:rPr lang="en-US"/>
              <a:t>- We lack cost structure per factory, so we can’t fully diagnose why some are unprofitable.</a:t>
            </a:r>
          </a:p>
          <a:p>
            <a:r>
              <a:rPr lang="en-US"/>
              <a:t>- We don’t have marketing or regional demand data, which likely affects product performance.</a:t>
            </a:r>
          </a:p>
          <a:p>
            <a:r>
              <a:rPr lang="en-US"/>
              <a:t>- We don’t know each factory’s production capacity, which may constrain output.</a:t>
            </a:r>
          </a:p>
          <a:p>
            <a:r>
              <a:rPr lang="en-US"/>
              <a:t>- Customer segmentation data is limited, preventing deeper behavioral insights.</a:t>
            </a:r>
          </a:p>
          <a:p>
            <a:r>
              <a:rPr lang="en-US"/>
              <a:t/>
            </a:r>
          </a:p>
          <a:p>
            <a:r>
              <a:rPr lang="en-US"/>
              <a:t>Despite these limitations, our findings provide a solid foundation for strategic recommendations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In summary, the business is profitable, but profitability is concentrated in a few products and factories.</a:t>
            </a:r>
          </a:p>
          <a:p>
            <a:r>
              <a:rPr lang="en-US"/>
              <a:t>Scaling high-margin products, improving or eliminating underperforming factories, and segmenting customers based on profitability are the key levers to sustainable growth.</a:t>
            </a:r>
          </a:p>
          <a:p>
            <a:r>
              <a:rPr lang="en-US"/>
              <a:t/>
            </a:r>
          </a:p>
          <a:p>
            <a:r>
              <a:rPr lang="en-US"/>
              <a:t>Thank you, and we’re happy to take questions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5.pn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8.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9.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0.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1.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2.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13.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14.png" Type="http://schemas.openxmlformats.org/officeDocument/2006/relationships/image"/><Relationship Id="rId4" Target="../media/image15.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2.png" Type="http://schemas.openxmlformats.org/officeDocument/2006/relationships/image"/><Relationship Id="rId4" Target="../media/image3.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16.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85431" y="723952"/>
            <a:ext cx="6418775" cy="8839096"/>
            <a:chOff x="0" y="0"/>
            <a:chExt cx="1690542" cy="2327992"/>
          </a:xfrm>
        </p:grpSpPr>
        <p:sp>
          <p:nvSpPr>
            <p:cNvPr name="Freeform 3" id="3"/>
            <p:cNvSpPr/>
            <p:nvPr/>
          </p:nvSpPr>
          <p:spPr>
            <a:xfrm flipH="false" flipV="false" rot="0">
              <a:off x="0" y="0"/>
              <a:ext cx="1690542" cy="2327992"/>
            </a:xfrm>
            <a:custGeom>
              <a:avLst/>
              <a:gdLst/>
              <a:ahLst/>
              <a:cxnLst/>
              <a:rect r="r" b="b" t="t" l="l"/>
              <a:pathLst>
                <a:path h="2327992" w="1690542">
                  <a:moveTo>
                    <a:pt x="48245" y="0"/>
                  </a:moveTo>
                  <a:lnTo>
                    <a:pt x="1642296" y="0"/>
                  </a:lnTo>
                  <a:cubicBezTo>
                    <a:pt x="1668941" y="0"/>
                    <a:pt x="1690542" y="21600"/>
                    <a:pt x="1690542" y="48245"/>
                  </a:cubicBezTo>
                  <a:lnTo>
                    <a:pt x="1690542" y="2279747"/>
                  </a:lnTo>
                  <a:cubicBezTo>
                    <a:pt x="1690542" y="2292542"/>
                    <a:pt x="1685459" y="2304814"/>
                    <a:pt x="1676411" y="2313862"/>
                  </a:cubicBezTo>
                  <a:cubicBezTo>
                    <a:pt x="1667363" y="2322909"/>
                    <a:pt x="1655092" y="2327992"/>
                    <a:pt x="1642296" y="2327992"/>
                  </a:cubicBezTo>
                  <a:lnTo>
                    <a:pt x="48245" y="2327992"/>
                  </a:lnTo>
                  <a:cubicBezTo>
                    <a:pt x="21600" y="2327992"/>
                    <a:pt x="0" y="2306392"/>
                    <a:pt x="0" y="2279747"/>
                  </a:cubicBezTo>
                  <a:lnTo>
                    <a:pt x="0" y="48245"/>
                  </a:lnTo>
                  <a:cubicBezTo>
                    <a:pt x="0" y="35450"/>
                    <a:pt x="5083" y="23179"/>
                    <a:pt x="14131" y="14131"/>
                  </a:cubicBezTo>
                  <a:cubicBezTo>
                    <a:pt x="23179" y="5083"/>
                    <a:pt x="35450" y="0"/>
                    <a:pt x="48245" y="0"/>
                  </a:cubicBezTo>
                  <a:close/>
                </a:path>
              </a:pathLst>
            </a:custGeom>
            <a:solidFill>
              <a:srgbClr val="412A1D"/>
            </a:solidFill>
          </p:spPr>
        </p:sp>
        <p:sp>
          <p:nvSpPr>
            <p:cNvPr name="TextBox 4" id="4"/>
            <p:cNvSpPr txBox="true"/>
            <p:nvPr/>
          </p:nvSpPr>
          <p:spPr>
            <a:xfrm>
              <a:off x="0" y="-38100"/>
              <a:ext cx="1690542" cy="2366092"/>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203619" y="2108462"/>
            <a:ext cx="5382398" cy="4554465"/>
            <a:chOff x="0" y="0"/>
            <a:chExt cx="812800" cy="687773"/>
          </a:xfrm>
        </p:grpSpPr>
        <p:sp>
          <p:nvSpPr>
            <p:cNvPr name="Freeform 6" id="6"/>
            <p:cNvSpPr/>
            <p:nvPr/>
          </p:nvSpPr>
          <p:spPr>
            <a:xfrm flipH="false" flipV="false" rot="0">
              <a:off x="0" y="0"/>
              <a:ext cx="812800" cy="687773"/>
            </a:xfrm>
            <a:custGeom>
              <a:avLst/>
              <a:gdLst/>
              <a:ahLst/>
              <a:cxnLst/>
              <a:rect r="r" b="b" t="t" l="l"/>
              <a:pathLst>
                <a:path h="687773" w="812800">
                  <a:moveTo>
                    <a:pt x="43151" y="0"/>
                  </a:moveTo>
                  <a:lnTo>
                    <a:pt x="769649" y="0"/>
                  </a:lnTo>
                  <a:cubicBezTo>
                    <a:pt x="793480" y="0"/>
                    <a:pt x="812800" y="19320"/>
                    <a:pt x="812800" y="43151"/>
                  </a:cubicBezTo>
                  <a:lnTo>
                    <a:pt x="812800" y="644622"/>
                  </a:lnTo>
                  <a:cubicBezTo>
                    <a:pt x="812800" y="668454"/>
                    <a:pt x="793480" y="687773"/>
                    <a:pt x="769649" y="687773"/>
                  </a:cubicBezTo>
                  <a:lnTo>
                    <a:pt x="43151" y="687773"/>
                  </a:lnTo>
                  <a:cubicBezTo>
                    <a:pt x="19320" y="687773"/>
                    <a:pt x="0" y="668454"/>
                    <a:pt x="0" y="644622"/>
                  </a:cubicBezTo>
                  <a:lnTo>
                    <a:pt x="0" y="43151"/>
                  </a:lnTo>
                  <a:cubicBezTo>
                    <a:pt x="0" y="19320"/>
                    <a:pt x="19320" y="0"/>
                    <a:pt x="43151" y="0"/>
                  </a:cubicBezTo>
                  <a:close/>
                </a:path>
              </a:pathLst>
            </a:custGeom>
            <a:solidFill>
              <a:srgbClr val="000000">
                <a:alpha val="0"/>
              </a:srgbClr>
            </a:solidFill>
            <a:ln w="12700">
              <a:solidFill>
                <a:srgbClr val="000000"/>
              </a:solidFill>
            </a:ln>
          </p:spPr>
        </p:sp>
      </p:grpSp>
      <p:grpSp>
        <p:nvGrpSpPr>
          <p:cNvPr name="Group 7" id="7"/>
          <p:cNvGrpSpPr/>
          <p:nvPr/>
        </p:nvGrpSpPr>
        <p:grpSpPr>
          <a:xfrm rot="0">
            <a:off x="1203619" y="2001587"/>
            <a:ext cx="5382398" cy="4768215"/>
            <a:chOff x="0" y="0"/>
            <a:chExt cx="1094939" cy="969996"/>
          </a:xfrm>
        </p:grpSpPr>
        <p:sp>
          <p:nvSpPr>
            <p:cNvPr name="Freeform 8" id="8"/>
            <p:cNvSpPr/>
            <p:nvPr/>
          </p:nvSpPr>
          <p:spPr>
            <a:xfrm flipH="false" flipV="false" rot="0">
              <a:off x="0" y="0"/>
              <a:ext cx="1094939" cy="969996"/>
            </a:xfrm>
            <a:custGeom>
              <a:avLst/>
              <a:gdLst/>
              <a:ahLst/>
              <a:cxnLst/>
              <a:rect r="r" b="b" t="t" l="l"/>
              <a:pathLst>
                <a:path h="969996" w="1094939">
                  <a:moveTo>
                    <a:pt x="43151" y="0"/>
                  </a:moveTo>
                  <a:lnTo>
                    <a:pt x="1051788" y="0"/>
                  </a:lnTo>
                  <a:cubicBezTo>
                    <a:pt x="1075620" y="0"/>
                    <a:pt x="1094939" y="19320"/>
                    <a:pt x="1094939" y="43151"/>
                  </a:cubicBezTo>
                  <a:lnTo>
                    <a:pt x="1094939" y="926845"/>
                  </a:lnTo>
                  <a:cubicBezTo>
                    <a:pt x="1094939" y="950677"/>
                    <a:pt x="1075620" y="969996"/>
                    <a:pt x="1051788" y="969996"/>
                  </a:cubicBezTo>
                  <a:lnTo>
                    <a:pt x="43151" y="969996"/>
                  </a:lnTo>
                  <a:cubicBezTo>
                    <a:pt x="19320" y="969996"/>
                    <a:pt x="0" y="950677"/>
                    <a:pt x="0" y="926845"/>
                  </a:cubicBezTo>
                  <a:lnTo>
                    <a:pt x="0" y="43151"/>
                  </a:lnTo>
                  <a:cubicBezTo>
                    <a:pt x="0" y="19320"/>
                    <a:pt x="19320" y="0"/>
                    <a:pt x="43151" y="0"/>
                  </a:cubicBezTo>
                  <a:close/>
                </a:path>
              </a:pathLst>
            </a:custGeom>
            <a:blipFill>
              <a:blip r:embed="rId3"/>
              <a:stretch>
                <a:fillRect l="0" t="-34814" r="0" b="-34814"/>
              </a:stretch>
            </a:blipFill>
          </p:spPr>
        </p:sp>
      </p:grpSp>
      <p:sp>
        <p:nvSpPr>
          <p:cNvPr name="TextBox 9" id="9"/>
          <p:cNvSpPr txBox="true"/>
          <p:nvPr/>
        </p:nvSpPr>
        <p:spPr>
          <a:xfrm rot="0">
            <a:off x="7865240" y="7486987"/>
            <a:ext cx="6418775" cy="415290"/>
          </a:xfrm>
          <a:prstGeom prst="rect">
            <a:avLst/>
          </a:prstGeom>
        </p:spPr>
        <p:txBody>
          <a:bodyPr anchor="t" rtlCol="false" tIns="0" lIns="0" bIns="0" rIns="0">
            <a:spAutoFit/>
          </a:bodyPr>
          <a:lstStyle/>
          <a:p>
            <a:pPr algn="l">
              <a:lnSpc>
                <a:spcPts val="3360"/>
              </a:lnSpc>
              <a:spcBef>
                <a:spcPct val="0"/>
              </a:spcBef>
            </a:pPr>
            <a:r>
              <a:rPr lang="en-US" b="true" sz="2400">
                <a:solidFill>
                  <a:srgbClr val="412A1D"/>
                </a:solidFill>
                <a:latin typeface="Work Sans Bold"/>
                <a:ea typeface="Work Sans Bold"/>
                <a:cs typeface="Work Sans Bold"/>
                <a:sym typeface="Work Sans Bold"/>
              </a:rPr>
              <a:t>CECILE - MARISA - PAULINA - SAMIA</a:t>
            </a:r>
          </a:p>
        </p:txBody>
      </p:sp>
      <p:sp>
        <p:nvSpPr>
          <p:cNvPr name="TextBox 10" id="10"/>
          <p:cNvSpPr txBox="true"/>
          <p:nvPr/>
        </p:nvSpPr>
        <p:spPr>
          <a:xfrm rot="0">
            <a:off x="7865240" y="3129038"/>
            <a:ext cx="10554182" cy="3164835"/>
          </a:xfrm>
          <a:prstGeom prst="rect">
            <a:avLst/>
          </a:prstGeom>
        </p:spPr>
        <p:txBody>
          <a:bodyPr anchor="t" rtlCol="false" tIns="0" lIns="0" bIns="0" rIns="0">
            <a:spAutoFit/>
          </a:bodyPr>
          <a:lstStyle/>
          <a:p>
            <a:pPr algn="l">
              <a:lnSpc>
                <a:spcPts val="8260"/>
              </a:lnSpc>
            </a:pPr>
            <a:r>
              <a:rPr lang="en-US" sz="5900" b="true">
                <a:solidFill>
                  <a:srgbClr val="412A1D"/>
                </a:solidFill>
                <a:latin typeface="Poppins Bold"/>
                <a:ea typeface="Poppins Bold"/>
                <a:cs typeface="Poppins Bold"/>
                <a:sym typeface="Poppins Bold"/>
              </a:rPr>
              <a:t>Wonka </a:t>
            </a:r>
          </a:p>
          <a:p>
            <a:pPr algn="l">
              <a:lnSpc>
                <a:spcPts val="8260"/>
              </a:lnSpc>
            </a:pPr>
            <a:r>
              <a:rPr lang="en-US" sz="5900" b="true">
                <a:solidFill>
                  <a:srgbClr val="412A1D"/>
                </a:solidFill>
                <a:latin typeface="Poppins Bold"/>
                <a:ea typeface="Poppins Bold"/>
                <a:cs typeface="Poppins Bold"/>
                <a:sym typeface="Poppins Bold"/>
              </a:rPr>
              <a:t>Sales Performance </a:t>
            </a:r>
          </a:p>
          <a:p>
            <a:pPr algn="l">
              <a:lnSpc>
                <a:spcPts val="8260"/>
              </a:lnSpc>
            </a:pPr>
            <a:r>
              <a:rPr lang="en-US" sz="5900" b="true">
                <a:solidFill>
                  <a:srgbClr val="412A1D"/>
                </a:solidFill>
                <a:latin typeface="Poppins Bold"/>
                <a:ea typeface="Poppins Bold"/>
                <a:cs typeface="Poppins Bold"/>
                <a:sym typeface="Poppins Bold"/>
              </a:rPr>
              <a:t>Operational Insights</a:t>
            </a:r>
          </a:p>
        </p:txBody>
      </p:sp>
      <p:sp>
        <p:nvSpPr>
          <p:cNvPr name="TextBox 11" id="11"/>
          <p:cNvSpPr txBox="true"/>
          <p:nvPr/>
        </p:nvSpPr>
        <p:spPr>
          <a:xfrm rot="0">
            <a:off x="7865240" y="6870843"/>
            <a:ext cx="6418775" cy="415290"/>
          </a:xfrm>
          <a:prstGeom prst="rect">
            <a:avLst/>
          </a:prstGeom>
        </p:spPr>
        <p:txBody>
          <a:bodyPr anchor="t" rtlCol="false" tIns="0" lIns="0" bIns="0" rIns="0">
            <a:spAutoFit/>
          </a:bodyPr>
          <a:lstStyle/>
          <a:p>
            <a:pPr algn="l">
              <a:lnSpc>
                <a:spcPts val="3360"/>
              </a:lnSpc>
              <a:spcBef>
                <a:spcPct val="0"/>
              </a:spcBef>
            </a:pPr>
            <a:r>
              <a:rPr lang="en-US" sz="2400" b="true">
                <a:solidFill>
                  <a:srgbClr val="412A1D"/>
                </a:solidFill>
                <a:latin typeface="Work Sans Bold"/>
                <a:ea typeface="Work Sans Bold"/>
                <a:cs typeface="Work Sans Bold"/>
                <a:sym typeface="Work Sans Bold"/>
              </a:rPr>
              <a:t>DATA &amp; ANALYTICS DEPARTMENT</a:t>
            </a:r>
          </a:p>
        </p:txBody>
      </p:sp>
      <p:sp>
        <p:nvSpPr>
          <p:cNvPr name="AutoShape 12" id="12"/>
          <p:cNvSpPr/>
          <p:nvPr/>
        </p:nvSpPr>
        <p:spPr>
          <a:xfrm>
            <a:off x="7865240" y="6641536"/>
            <a:ext cx="8173036" cy="21392"/>
          </a:xfrm>
          <a:prstGeom prst="line">
            <a:avLst/>
          </a:prstGeom>
          <a:ln cap="flat" w="180975">
            <a:solidFill>
              <a:srgbClr val="8B6861"/>
            </a:solidFill>
            <a:prstDash val="solid"/>
            <a:headEnd type="none" len="sm" w="sm"/>
            <a:tailEnd type="none" len="sm" w="sm"/>
          </a:ln>
        </p:spPr>
      </p:sp>
      <p:sp>
        <p:nvSpPr>
          <p:cNvPr name="TextBox 13" id="13"/>
          <p:cNvSpPr txBox="true"/>
          <p:nvPr/>
        </p:nvSpPr>
        <p:spPr>
          <a:xfrm rot="0">
            <a:off x="1028700" y="7854652"/>
            <a:ext cx="5900586" cy="771525"/>
          </a:xfrm>
          <a:prstGeom prst="rect">
            <a:avLst/>
          </a:prstGeom>
        </p:spPr>
        <p:txBody>
          <a:bodyPr anchor="t" rtlCol="false" tIns="0" lIns="0" bIns="0" rIns="0">
            <a:spAutoFit/>
          </a:bodyPr>
          <a:lstStyle/>
          <a:p>
            <a:pPr algn="l">
              <a:lnSpc>
                <a:spcPts val="5760"/>
              </a:lnSpc>
            </a:pPr>
            <a:r>
              <a:rPr lang="en-US" sz="4800" b="true">
                <a:solidFill>
                  <a:srgbClr val="FFFFFF"/>
                </a:solidFill>
                <a:latin typeface="Poppins Bold"/>
                <a:ea typeface="Poppins Bold"/>
                <a:cs typeface="Poppins Bold"/>
                <a:sym typeface="Poppins Bold"/>
              </a:rPr>
              <a:t>Chocolate </a:t>
            </a:r>
            <a:r>
              <a:rPr lang="en-US" sz="4800" b="true">
                <a:solidFill>
                  <a:srgbClr val="FFFFFF"/>
                </a:solidFill>
                <a:latin typeface="Poppins Bold"/>
                <a:ea typeface="Poppins Bold"/>
                <a:cs typeface="Poppins Bold"/>
                <a:sym typeface="Poppins Bold"/>
              </a:rPr>
              <a:t>Factory</a:t>
            </a:r>
          </a:p>
        </p:txBody>
      </p:sp>
      <p:sp>
        <p:nvSpPr>
          <p:cNvPr name="TextBox 14" id="14"/>
          <p:cNvSpPr txBox="true"/>
          <p:nvPr/>
        </p:nvSpPr>
        <p:spPr>
          <a:xfrm rot="0">
            <a:off x="685431" y="7059438"/>
            <a:ext cx="5900586" cy="771525"/>
          </a:xfrm>
          <a:prstGeom prst="rect">
            <a:avLst/>
          </a:prstGeom>
        </p:spPr>
        <p:txBody>
          <a:bodyPr anchor="t" rtlCol="false" tIns="0" lIns="0" bIns="0" rIns="0">
            <a:spAutoFit/>
          </a:bodyPr>
          <a:lstStyle/>
          <a:p>
            <a:pPr algn="ctr">
              <a:lnSpc>
                <a:spcPts val="5760"/>
              </a:lnSpc>
            </a:pPr>
            <a:r>
              <a:rPr lang="en-US" b="true" sz="4800">
                <a:solidFill>
                  <a:srgbClr val="FFFFFF"/>
                </a:solidFill>
                <a:latin typeface="Poppins Bold"/>
                <a:ea typeface="Poppins Bold"/>
                <a:cs typeface="Poppins Bold"/>
                <a:sym typeface="Poppins Bold"/>
              </a:rPr>
              <a:t>Wonka </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6097" y="896382"/>
            <a:ext cx="450999" cy="306193"/>
            <a:chOff x="0" y="0"/>
            <a:chExt cx="99293" cy="67412"/>
          </a:xfrm>
        </p:grpSpPr>
        <p:sp>
          <p:nvSpPr>
            <p:cNvPr name="Freeform 3" id="3"/>
            <p:cNvSpPr/>
            <p:nvPr/>
          </p:nvSpPr>
          <p:spPr>
            <a:xfrm flipH="false" flipV="false" rot="0">
              <a:off x="0" y="0"/>
              <a:ext cx="99293" cy="67412"/>
            </a:xfrm>
            <a:custGeom>
              <a:avLst/>
              <a:gdLst/>
              <a:ahLst/>
              <a:cxnLst/>
              <a:rect r="r" b="b" t="t" l="l"/>
              <a:pathLst>
                <a:path h="67412" w="99293">
                  <a:moveTo>
                    <a:pt x="33706" y="0"/>
                  </a:moveTo>
                  <a:lnTo>
                    <a:pt x="65587" y="0"/>
                  </a:lnTo>
                  <a:cubicBezTo>
                    <a:pt x="84202" y="0"/>
                    <a:pt x="99293" y="15091"/>
                    <a:pt x="99293" y="33706"/>
                  </a:cubicBezTo>
                  <a:lnTo>
                    <a:pt x="99293" y="33706"/>
                  </a:lnTo>
                  <a:cubicBezTo>
                    <a:pt x="99293" y="42646"/>
                    <a:pt x="95742" y="51219"/>
                    <a:pt x="89421" y="57540"/>
                  </a:cubicBezTo>
                  <a:cubicBezTo>
                    <a:pt x="83100" y="63861"/>
                    <a:pt x="74526" y="67412"/>
                    <a:pt x="65587" y="67412"/>
                  </a:cubicBezTo>
                  <a:lnTo>
                    <a:pt x="33706" y="67412"/>
                  </a:lnTo>
                  <a:cubicBezTo>
                    <a:pt x="15091" y="67412"/>
                    <a:pt x="0" y="52322"/>
                    <a:pt x="0" y="33706"/>
                  </a:cubicBezTo>
                  <a:lnTo>
                    <a:pt x="0" y="33706"/>
                  </a:lnTo>
                  <a:cubicBezTo>
                    <a:pt x="0" y="15091"/>
                    <a:pt x="15091" y="0"/>
                    <a:pt x="33706" y="0"/>
                  </a:cubicBezTo>
                  <a:close/>
                </a:path>
              </a:pathLst>
            </a:custGeom>
            <a:solidFill>
              <a:srgbClr val="412A1D"/>
            </a:solidFill>
          </p:spPr>
        </p:sp>
        <p:sp>
          <p:nvSpPr>
            <p:cNvPr name="TextBox 4" id="4"/>
            <p:cNvSpPr txBox="true"/>
            <p:nvPr/>
          </p:nvSpPr>
          <p:spPr>
            <a:xfrm>
              <a:off x="0" y="-38100"/>
              <a:ext cx="99293" cy="105512"/>
            </a:xfrm>
            <a:prstGeom prst="rect">
              <a:avLst/>
            </a:prstGeom>
          </p:spPr>
          <p:txBody>
            <a:bodyPr anchor="ctr" rtlCol="false" tIns="60771" lIns="60771" bIns="60771" rIns="60771"/>
            <a:lstStyle/>
            <a:p>
              <a:pPr algn="ctr">
                <a:lnSpc>
                  <a:spcPts val="2659"/>
                </a:lnSpc>
                <a:spcBef>
                  <a:spcPct val="0"/>
                </a:spcBef>
              </a:pPr>
            </a:p>
          </p:txBody>
        </p:sp>
      </p:grpSp>
      <p:grpSp>
        <p:nvGrpSpPr>
          <p:cNvPr name="Group 5" id="5"/>
          <p:cNvGrpSpPr/>
          <p:nvPr/>
        </p:nvGrpSpPr>
        <p:grpSpPr>
          <a:xfrm rot="0">
            <a:off x="826097" y="4181643"/>
            <a:ext cx="450999" cy="306193"/>
            <a:chOff x="0" y="0"/>
            <a:chExt cx="99293" cy="67412"/>
          </a:xfrm>
        </p:grpSpPr>
        <p:sp>
          <p:nvSpPr>
            <p:cNvPr name="Freeform 6" id="6"/>
            <p:cNvSpPr/>
            <p:nvPr/>
          </p:nvSpPr>
          <p:spPr>
            <a:xfrm flipH="false" flipV="false" rot="0">
              <a:off x="0" y="0"/>
              <a:ext cx="99293" cy="67412"/>
            </a:xfrm>
            <a:custGeom>
              <a:avLst/>
              <a:gdLst/>
              <a:ahLst/>
              <a:cxnLst/>
              <a:rect r="r" b="b" t="t" l="l"/>
              <a:pathLst>
                <a:path h="67412" w="99293">
                  <a:moveTo>
                    <a:pt x="33706" y="0"/>
                  </a:moveTo>
                  <a:lnTo>
                    <a:pt x="65587" y="0"/>
                  </a:lnTo>
                  <a:cubicBezTo>
                    <a:pt x="84202" y="0"/>
                    <a:pt x="99293" y="15091"/>
                    <a:pt x="99293" y="33706"/>
                  </a:cubicBezTo>
                  <a:lnTo>
                    <a:pt x="99293" y="33706"/>
                  </a:lnTo>
                  <a:cubicBezTo>
                    <a:pt x="99293" y="42646"/>
                    <a:pt x="95742" y="51219"/>
                    <a:pt x="89421" y="57540"/>
                  </a:cubicBezTo>
                  <a:cubicBezTo>
                    <a:pt x="83100" y="63861"/>
                    <a:pt x="74526" y="67412"/>
                    <a:pt x="65587" y="67412"/>
                  </a:cubicBezTo>
                  <a:lnTo>
                    <a:pt x="33706" y="67412"/>
                  </a:lnTo>
                  <a:cubicBezTo>
                    <a:pt x="15091" y="67412"/>
                    <a:pt x="0" y="52322"/>
                    <a:pt x="0" y="33706"/>
                  </a:cubicBezTo>
                  <a:lnTo>
                    <a:pt x="0" y="33706"/>
                  </a:lnTo>
                  <a:cubicBezTo>
                    <a:pt x="0" y="15091"/>
                    <a:pt x="15091" y="0"/>
                    <a:pt x="33706" y="0"/>
                  </a:cubicBezTo>
                  <a:close/>
                </a:path>
              </a:pathLst>
            </a:custGeom>
            <a:solidFill>
              <a:srgbClr val="675145"/>
            </a:solidFill>
          </p:spPr>
        </p:sp>
        <p:sp>
          <p:nvSpPr>
            <p:cNvPr name="TextBox 7" id="7"/>
            <p:cNvSpPr txBox="true"/>
            <p:nvPr/>
          </p:nvSpPr>
          <p:spPr>
            <a:xfrm>
              <a:off x="0" y="-38100"/>
              <a:ext cx="99293" cy="105512"/>
            </a:xfrm>
            <a:prstGeom prst="rect">
              <a:avLst/>
            </a:prstGeom>
          </p:spPr>
          <p:txBody>
            <a:bodyPr anchor="ctr" rtlCol="false" tIns="60771" lIns="60771" bIns="60771" rIns="60771"/>
            <a:lstStyle/>
            <a:p>
              <a:pPr algn="ctr">
                <a:lnSpc>
                  <a:spcPts val="2659"/>
                </a:lnSpc>
                <a:spcBef>
                  <a:spcPct val="0"/>
                </a:spcBef>
              </a:pPr>
            </a:p>
          </p:txBody>
        </p:sp>
      </p:grpSp>
      <p:grpSp>
        <p:nvGrpSpPr>
          <p:cNvPr name="Group 8" id="8"/>
          <p:cNvGrpSpPr/>
          <p:nvPr/>
        </p:nvGrpSpPr>
        <p:grpSpPr>
          <a:xfrm rot="0">
            <a:off x="826097" y="2487058"/>
            <a:ext cx="450999" cy="306193"/>
            <a:chOff x="0" y="0"/>
            <a:chExt cx="99293" cy="67412"/>
          </a:xfrm>
        </p:grpSpPr>
        <p:sp>
          <p:nvSpPr>
            <p:cNvPr name="Freeform 9" id="9"/>
            <p:cNvSpPr/>
            <p:nvPr/>
          </p:nvSpPr>
          <p:spPr>
            <a:xfrm flipH="false" flipV="false" rot="0">
              <a:off x="0" y="0"/>
              <a:ext cx="99293" cy="67412"/>
            </a:xfrm>
            <a:custGeom>
              <a:avLst/>
              <a:gdLst/>
              <a:ahLst/>
              <a:cxnLst/>
              <a:rect r="r" b="b" t="t" l="l"/>
              <a:pathLst>
                <a:path h="67412" w="99293">
                  <a:moveTo>
                    <a:pt x="33706" y="0"/>
                  </a:moveTo>
                  <a:lnTo>
                    <a:pt x="65587" y="0"/>
                  </a:lnTo>
                  <a:cubicBezTo>
                    <a:pt x="84202" y="0"/>
                    <a:pt x="99293" y="15091"/>
                    <a:pt x="99293" y="33706"/>
                  </a:cubicBezTo>
                  <a:lnTo>
                    <a:pt x="99293" y="33706"/>
                  </a:lnTo>
                  <a:cubicBezTo>
                    <a:pt x="99293" y="42646"/>
                    <a:pt x="95742" y="51219"/>
                    <a:pt x="89421" y="57540"/>
                  </a:cubicBezTo>
                  <a:cubicBezTo>
                    <a:pt x="83100" y="63861"/>
                    <a:pt x="74526" y="67412"/>
                    <a:pt x="65587" y="67412"/>
                  </a:cubicBezTo>
                  <a:lnTo>
                    <a:pt x="33706" y="67412"/>
                  </a:lnTo>
                  <a:cubicBezTo>
                    <a:pt x="15091" y="67412"/>
                    <a:pt x="0" y="52322"/>
                    <a:pt x="0" y="33706"/>
                  </a:cubicBezTo>
                  <a:lnTo>
                    <a:pt x="0" y="33706"/>
                  </a:lnTo>
                  <a:cubicBezTo>
                    <a:pt x="0" y="15091"/>
                    <a:pt x="15091" y="0"/>
                    <a:pt x="33706" y="0"/>
                  </a:cubicBezTo>
                  <a:close/>
                </a:path>
              </a:pathLst>
            </a:custGeom>
            <a:solidFill>
              <a:srgbClr val="665044"/>
            </a:solidFill>
          </p:spPr>
        </p:sp>
        <p:sp>
          <p:nvSpPr>
            <p:cNvPr name="TextBox 10" id="10"/>
            <p:cNvSpPr txBox="true"/>
            <p:nvPr/>
          </p:nvSpPr>
          <p:spPr>
            <a:xfrm>
              <a:off x="0" y="-38100"/>
              <a:ext cx="99293" cy="105512"/>
            </a:xfrm>
            <a:prstGeom prst="rect">
              <a:avLst/>
            </a:prstGeom>
          </p:spPr>
          <p:txBody>
            <a:bodyPr anchor="ctr" rtlCol="false" tIns="60771" lIns="60771" bIns="60771" rIns="60771"/>
            <a:lstStyle/>
            <a:p>
              <a:pPr algn="ctr">
                <a:lnSpc>
                  <a:spcPts val="2659"/>
                </a:lnSpc>
                <a:spcBef>
                  <a:spcPct val="0"/>
                </a:spcBef>
              </a:pPr>
            </a:p>
          </p:txBody>
        </p:sp>
      </p:grpSp>
      <p:grpSp>
        <p:nvGrpSpPr>
          <p:cNvPr name="Group 11" id="11"/>
          <p:cNvGrpSpPr/>
          <p:nvPr/>
        </p:nvGrpSpPr>
        <p:grpSpPr>
          <a:xfrm rot="0">
            <a:off x="826097" y="5953293"/>
            <a:ext cx="450999" cy="306193"/>
            <a:chOff x="0" y="0"/>
            <a:chExt cx="99293" cy="67412"/>
          </a:xfrm>
        </p:grpSpPr>
        <p:sp>
          <p:nvSpPr>
            <p:cNvPr name="Freeform 12" id="12"/>
            <p:cNvSpPr/>
            <p:nvPr/>
          </p:nvSpPr>
          <p:spPr>
            <a:xfrm flipH="false" flipV="false" rot="0">
              <a:off x="0" y="0"/>
              <a:ext cx="99293" cy="67412"/>
            </a:xfrm>
            <a:custGeom>
              <a:avLst/>
              <a:gdLst/>
              <a:ahLst/>
              <a:cxnLst/>
              <a:rect r="r" b="b" t="t" l="l"/>
              <a:pathLst>
                <a:path h="67412" w="99293">
                  <a:moveTo>
                    <a:pt x="33706" y="0"/>
                  </a:moveTo>
                  <a:lnTo>
                    <a:pt x="65587" y="0"/>
                  </a:lnTo>
                  <a:cubicBezTo>
                    <a:pt x="84202" y="0"/>
                    <a:pt x="99293" y="15091"/>
                    <a:pt x="99293" y="33706"/>
                  </a:cubicBezTo>
                  <a:lnTo>
                    <a:pt x="99293" y="33706"/>
                  </a:lnTo>
                  <a:cubicBezTo>
                    <a:pt x="99293" y="42646"/>
                    <a:pt x="95742" y="51219"/>
                    <a:pt x="89421" y="57540"/>
                  </a:cubicBezTo>
                  <a:cubicBezTo>
                    <a:pt x="83100" y="63861"/>
                    <a:pt x="74526" y="67412"/>
                    <a:pt x="65587" y="67412"/>
                  </a:cubicBezTo>
                  <a:lnTo>
                    <a:pt x="33706" y="67412"/>
                  </a:lnTo>
                  <a:cubicBezTo>
                    <a:pt x="15091" y="67412"/>
                    <a:pt x="0" y="52322"/>
                    <a:pt x="0" y="33706"/>
                  </a:cubicBezTo>
                  <a:lnTo>
                    <a:pt x="0" y="33706"/>
                  </a:lnTo>
                  <a:cubicBezTo>
                    <a:pt x="0" y="15091"/>
                    <a:pt x="15091" y="0"/>
                    <a:pt x="33706" y="0"/>
                  </a:cubicBezTo>
                  <a:close/>
                </a:path>
              </a:pathLst>
            </a:custGeom>
            <a:solidFill>
              <a:srgbClr val="8A756A"/>
            </a:solidFill>
          </p:spPr>
        </p:sp>
        <p:sp>
          <p:nvSpPr>
            <p:cNvPr name="TextBox 13" id="13"/>
            <p:cNvSpPr txBox="true"/>
            <p:nvPr/>
          </p:nvSpPr>
          <p:spPr>
            <a:xfrm>
              <a:off x="0" y="-38100"/>
              <a:ext cx="99293" cy="105512"/>
            </a:xfrm>
            <a:prstGeom prst="rect">
              <a:avLst/>
            </a:prstGeom>
          </p:spPr>
          <p:txBody>
            <a:bodyPr anchor="ctr" rtlCol="false" tIns="60771" lIns="60771" bIns="60771" rIns="60771"/>
            <a:lstStyle/>
            <a:p>
              <a:pPr algn="ctr">
                <a:lnSpc>
                  <a:spcPts val="2659"/>
                </a:lnSpc>
                <a:spcBef>
                  <a:spcPct val="0"/>
                </a:spcBef>
              </a:pPr>
            </a:p>
          </p:txBody>
        </p:sp>
      </p:grpSp>
      <p:sp>
        <p:nvSpPr>
          <p:cNvPr name="Freeform 14" id="14"/>
          <p:cNvSpPr/>
          <p:nvPr/>
        </p:nvSpPr>
        <p:spPr>
          <a:xfrm flipH="false" flipV="false" rot="0">
            <a:off x="11774310" y="-82522"/>
            <a:ext cx="7616472" cy="3179877"/>
          </a:xfrm>
          <a:custGeom>
            <a:avLst/>
            <a:gdLst/>
            <a:ahLst/>
            <a:cxnLst/>
            <a:rect r="r" b="b" t="t" l="l"/>
            <a:pathLst>
              <a:path h="3179877" w="7616472">
                <a:moveTo>
                  <a:pt x="0" y="0"/>
                </a:moveTo>
                <a:lnTo>
                  <a:pt x="7616472" y="0"/>
                </a:lnTo>
                <a:lnTo>
                  <a:pt x="7616472" y="3179877"/>
                </a:lnTo>
                <a:lnTo>
                  <a:pt x="0" y="317987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5" id="15"/>
          <p:cNvSpPr/>
          <p:nvPr/>
        </p:nvSpPr>
        <p:spPr>
          <a:xfrm flipH="false" flipV="false" rot="0">
            <a:off x="340640" y="8849590"/>
            <a:ext cx="1136121" cy="1082155"/>
          </a:xfrm>
          <a:custGeom>
            <a:avLst/>
            <a:gdLst/>
            <a:ahLst/>
            <a:cxnLst/>
            <a:rect r="r" b="b" t="t" l="l"/>
            <a:pathLst>
              <a:path h="1082155" w="1136121">
                <a:moveTo>
                  <a:pt x="0" y="0"/>
                </a:moveTo>
                <a:lnTo>
                  <a:pt x="1136120" y="0"/>
                </a:lnTo>
                <a:lnTo>
                  <a:pt x="1136120" y="1082155"/>
                </a:lnTo>
                <a:lnTo>
                  <a:pt x="0" y="1082155"/>
                </a:lnTo>
                <a:lnTo>
                  <a:pt x="0" y="0"/>
                </a:lnTo>
                <a:close/>
              </a:path>
            </a:pathLst>
          </a:custGeom>
          <a:blipFill>
            <a:blip r:embed="rId5"/>
            <a:stretch>
              <a:fillRect l="0" t="0" r="0" b="0"/>
            </a:stretch>
          </a:blipFill>
        </p:spPr>
      </p:sp>
      <p:sp>
        <p:nvSpPr>
          <p:cNvPr name="TextBox 16" id="16"/>
          <p:cNvSpPr txBox="true"/>
          <p:nvPr/>
        </p:nvSpPr>
        <p:spPr>
          <a:xfrm rot="0">
            <a:off x="1428161" y="820879"/>
            <a:ext cx="5265055" cy="457200"/>
          </a:xfrm>
          <a:prstGeom prst="rect">
            <a:avLst/>
          </a:prstGeom>
        </p:spPr>
        <p:txBody>
          <a:bodyPr anchor="t" rtlCol="false" tIns="0" lIns="0" bIns="0" rIns="0">
            <a:spAutoFit/>
          </a:bodyPr>
          <a:lstStyle/>
          <a:p>
            <a:pPr algn="l">
              <a:lnSpc>
                <a:spcPts val="3600"/>
              </a:lnSpc>
            </a:pPr>
            <a:r>
              <a:rPr lang="en-US" sz="3000" b="true">
                <a:solidFill>
                  <a:srgbClr val="000000"/>
                </a:solidFill>
                <a:latin typeface="Montserrat Bold"/>
                <a:ea typeface="Montserrat Bold"/>
                <a:cs typeface="Montserrat Bold"/>
                <a:sym typeface="Montserrat Bold"/>
              </a:rPr>
              <a:t>BUSINESS CONTEXT</a:t>
            </a:r>
          </a:p>
        </p:txBody>
      </p:sp>
      <p:sp>
        <p:nvSpPr>
          <p:cNvPr name="TextBox 17" id="17"/>
          <p:cNvSpPr txBox="true"/>
          <p:nvPr/>
        </p:nvSpPr>
        <p:spPr>
          <a:xfrm rot="0">
            <a:off x="1438406" y="4106140"/>
            <a:ext cx="3822697" cy="457200"/>
          </a:xfrm>
          <a:prstGeom prst="rect">
            <a:avLst/>
          </a:prstGeom>
        </p:spPr>
        <p:txBody>
          <a:bodyPr anchor="t" rtlCol="false" tIns="0" lIns="0" bIns="0" rIns="0">
            <a:spAutoFit/>
          </a:bodyPr>
          <a:lstStyle/>
          <a:p>
            <a:pPr algn="l">
              <a:lnSpc>
                <a:spcPts val="3600"/>
              </a:lnSpc>
            </a:pPr>
            <a:r>
              <a:rPr lang="en-US" sz="3000" b="true">
                <a:solidFill>
                  <a:srgbClr val="000000"/>
                </a:solidFill>
                <a:latin typeface="Montserrat Bold"/>
                <a:ea typeface="Montserrat Bold"/>
                <a:cs typeface="Montserrat Bold"/>
                <a:sym typeface="Montserrat Bold"/>
              </a:rPr>
              <a:t>SOLUTION</a:t>
            </a:r>
          </a:p>
        </p:txBody>
      </p:sp>
      <p:sp>
        <p:nvSpPr>
          <p:cNvPr name="TextBox 18" id="18"/>
          <p:cNvSpPr txBox="true"/>
          <p:nvPr/>
        </p:nvSpPr>
        <p:spPr>
          <a:xfrm rot="0">
            <a:off x="1438406" y="4725265"/>
            <a:ext cx="16023498" cy="523875"/>
          </a:xfrm>
          <a:prstGeom prst="rect">
            <a:avLst/>
          </a:prstGeom>
        </p:spPr>
        <p:txBody>
          <a:bodyPr anchor="t" rtlCol="false" tIns="0" lIns="0" bIns="0" rIns="0">
            <a:spAutoFit/>
          </a:bodyPr>
          <a:lstStyle/>
          <a:p>
            <a:pPr algn="l">
              <a:lnSpc>
                <a:spcPts val="4200"/>
              </a:lnSpc>
            </a:pPr>
            <a:r>
              <a:rPr lang="en-US" sz="3000">
                <a:solidFill>
                  <a:srgbClr val="000000"/>
                </a:solidFill>
                <a:latin typeface="Proxima Nova"/>
                <a:ea typeface="Proxima Nova"/>
                <a:cs typeface="Proxima Nova"/>
                <a:sym typeface="Proxima Nova"/>
              </a:rPr>
              <a:t>R</a:t>
            </a:r>
            <a:r>
              <a:rPr lang="en-US" sz="3000">
                <a:solidFill>
                  <a:srgbClr val="000000"/>
                </a:solidFill>
                <a:latin typeface="Proxima Nova"/>
                <a:ea typeface="Proxima Nova"/>
                <a:cs typeface="Proxima Nova"/>
                <a:sym typeface="Proxima Nova"/>
              </a:rPr>
              <a:t>eviewing financial figures of: factories, products, customers for profitabilit</a:t>
            </a:r>
            <a:r>
              <a:rPr lang="en-US" sz="3000">
                <a:solidFill>
                  <a:srgbClr val="000000"/>
                </a:solidFill>
                <a:latin typeface="Proxima Nova"/>
                <a:ea typeface="Proxima Nova"/>
                <a:cs typeface="Proxima Nova"/>
                <a:sym typeface="Proxima Nova"/>
              </a:rPr>
              <a:t>y.</a:t>
            </a:r>
          </a:p>
        </p:txBody>
      </p:sp>
      <p:sp>
        <p:nvSpPr>
          <p:cNvPr name="TextBox 19" id="19"/>
          <p:cNvSpPr txBox="true"/>
          <p:nvPr/>
        </p:nvSpPr>
        <p:spPr>
          <a:xfrm rot="0">
            <a:off x="1428161" y="2411555"/>
            <a:ext cx="3822697" cy="457200"/>
          </a:xfrm>
          <a:prstGeom prst="rect">
            <a:avLst/>
          </a:prstGeom>
        </p:spPr>
        <p:txBody>
          <a:bodyPr anchor="t" rtlCol="false" tIns="0" lIns="0" bIns="0" rIns="0">
            <a:spAutoFit/>
          </a:bodyPr>
          <a:lstStyle/>
          <a:p>
            <a:pPr algn="l">
              <a:lnSpc>
                <a:spcPts val="3600"/>
              </a:lnSpc>
            </a:pPr>
            <a:r>
              <a:rPr lang="en-US" sz="3000" b="true">
                <a:solidFill>
                  <a:srgbClr val="000000"/>
                </a:solidFill>
                <a:latin typeface="Montserrat Bold"/>
                <a:ea typeface="Montserrat Bold"/>
                <a:cs typeface="Montserrat Bold"/>
                <a:sym typeface="Montserrat Bold"/>
              </a:rPr>
              <a:t>PROBLEM</a:t>
            </a:r>
          </a:p>
        </p:txBody>
      </p:sp>
      <p:sp>
        <p:nvSpPr>
          <p:cNvPr name="TextBox 20" id="20"/>
          <p:cNvSpPr txBox="true"/>
          <p:nvPr/>
        </p:nvSpPr>
        <p:spPr>
          <a:xfrm rot="0">
            <a:off x="1428161" y="3030680"/>
            <a:ext cx="16023498" cy="523875"/>
          </a:xfrm>
          <a:prstGeom prst="rect">
            <a:avLst/>
          </a:prstGeom>
        </p:spPr>
        <p:txBody>
          <a:bodyPr anchor="t" rtlCol="false" tIns="0" lIns="0" bIns="0" rIns="0">
            <a:spAutoFit/>
          </a:bodyPr>
          <a:lstStyle/>
          <a:p>
            <a:pPr algn="l">
              <a:lnSpc>
                <a:spcPts val="4200"/>
              </a:lnSpc>
            </a:pPr>
            <a:r>
              <a:rPr lang="en-US" sz="3000">
                <a:solidFill>
                  <a:srgbClr val="000000"/>
                </a:solidFill>
                <a:latin typeface="Proxima Nova"/>
                <a:ea typeface="Proxima Nova"/>
                <a:cs typeface="Proxima Nova"/>
                <a:sym typeface="Proxima Nova"/>
              </a:rPr>
              <a:t>Scaling factories fo</a:t>
            </a:r>
            <a:r>
              <a:rPr lang="en-US" sz="3000">
                <a:solidFill>
                  <a:srgbClr val="000000"/>
                </a:solidFill>
                <a:latin typeface="Proxima Nova"/>
                <a:ea typeface="Proxima Nova"/>
                <a:cs typeface="Proxima Nova"/>
                <a:sym typeface="Proxima Nova"/>
              </a:rPr>
              <a:t>r</a:t>
            </a:r>
            <a:r>
              <a:rPr lang="en-US" sz="3000">
                <a:solidFill>
                  <a:srgbClr val="000000"/>
                </a:solidFill>
                <a:latin typeface="Proxima Nova"/>
                <a:ea typeface="Proxima Nova"/>
                <a:cs typeface="Proxima Nova"/>
                <a:sym typeface="Proxima Nova"/>
              </a:rPr>
              <a:t> </a:t>
            </a:r>
            <a:r>
              <a:rPr lang="en-US" sz="3000">
                <a:solidFill>
                  <a:srgbClr val="000000"/>
                </a:solidFill>
                <a:latin typeface="Proxima Nova"/>
                <a:ea typeface="Proxima Nova"/>
                <a:cs typeface="Proxima Nova"/>
                <a:sym typeface="Proxima Nova"/>
              </a:rPr>
              <a:t>profitability.</a:t>
            </a:r>
          </a:p>
        </p:txBody>
      </p:sp>
      <p:sp>
        <p:nvSpPr>
          <p:cNvPr name="TextBox 21" id="21"/>
          <p:cNvSpPr txBox="true"/>
          <p:nvPr/>
        </p:nvSpPr>
        <p:spPr>
          <a:xfrm rot="0">
            <a:off x="1428161" y="1449529"/>
            <a:ext cx="16023498" cy="504826"/>
          </a:xfrm>
          <a:prstGeom prst="rect">
            <a:avLst/>
          </a:prstGeom>
        </p:spPr>
        <p:txBody>
          <a:bodyPr anchor="t" rtlCol="false" tIns="0" lIns="0" bIns="0" rIns="0">
            <a:spAutoFit/>
          </a:bodyPr>
          <a:lstStyle/>
          <a:p>
            <a:pPr algn="l">
              <a:lnSpc>
                <a:spcPts val="4199"/>
              </a:lnSpc>
            </a:pPr>
            <a:r>
              <a:rPr lang="en-US" sz="2999">
                <a:solidFill>
                  <a:srgbClr val="000000"/>
                </a:solidFill>
                <a:latin typeface="Proxima Nova"/>
                <a:ea typeface="Proxima Nova"/>
                <a:cs typeface="Proxima Nova"/>
                <a:sym typeface="Proxima Nova"/>
              </a:rPr>
              <a:t>B2B</a:t>
            </a:r>
            <a:r>
              <a:rPr lang="en-US" sz="2999">
                <a:solidFill>
                  <a:srgbClr val="000000"/>
                </a:solidFill>
                <a:latin typeface="Proxima Nova"/>
                <a:ea typeface="Proxima Nova"/>
                <a:cs typeface="Proxima Nova"/>
                <a:sym typeface="Proxima Nova"/>
              </a:rPr>
              <a:t> </a:t>
            </a:r>
            <a:r>
              <a:rPr lang="en-US" sz="2999" u="none">
                <a:solidFill>
                  <a:srgbClr val="000000"/>
                </a:solidFill>
                <a:latin typeface="Proxima Nova"/>
                <a:ea typeface="Proxima Nova"/>
                <a:cs typeface="Proxima Nova"/>
                <a:sym typeface="Proxima Nova"/>
              </a:rPr>
              <a:t>s</a:t>
            </a:r>
            <a:r>
              <a:rPr lang="en-US" sz="2999">
                <a:solidFill>
                  <a:srgbClr val="000000"/>
                </a:solidFill>
                <a:latin typeface="Proxima Nova"/>
                <a:ea typeface="Proxima Nova"/>
                <a:cs typeface="Proxima Nova"/>
                <a:sym typeface="Proxima Nova"/>
              </a:rPr>
              <a:t>u</a:t>
            </a:r>
            <a:r>
              <a:rPr lang="en-US" sz="2999">
                <a:solidFill>
                  <a:srgbClr val="000000"/>
                </a:solidFill>
                <a:latin typeface="Proxima Nova"/>
                <a:ea typeface="Proxima Nova"/>
                <a:cs typeface="Proxima Nova"/>
                <a:sym typeface="Proxima Nova"/>
              </a:rPr>
              <a:t>p</a:t>
            </a:r>
            <a:r>
              <a:rPr lang="en-US" sz="2999">
                <a:solidFill>
                  <a:srgbClr val="000000"/>
                </a:solidFill>
                <a:latin typeface="Proxima Nova"/>
                <a:ea typeface="Proxima Nova"/>
                <a:cs typeface="Proxima Nova"/>
                <a:sym typeface="Proxima Nova"/>
              </a:rPr>
              <a:t>pl</a:t>
            </a:r>
            <a:r>
              <a:rPr lang="en-US" sz="2999">
                <a:solidFill>
                  <a:srgbClr val="000000"/>
                </a:solidFill>
                <a:latin typeface="Proxima Nova"/>
                <a:ea typeface="Proxima Nova"/>
                <a:cs typeface="Proxima Nova"/>
                <a:sym typeface="Proxima Nova"/>
              </a:rPr>
              <a:t>ie</a:t>
            </a:r>
            <a:r>
              <a:rPr lang="en-US" sz="2999" u="none">
                <a:solidFill>
                  <a:srgbClr val="000000"/>
                </a:solidFill>
                <a:latin typeface="Proxima Nova"/>
                <a:ea typeface="Proxima Nova"/>
                <a:cs typeface="Proxima Nova"/>
                <a:sym typeface="Proxima Nova"/>
              </a:rPr>
              <a:t>r</a:t>
            </a:r>
            <a:r>
              <a:rPr lang="en-US" sz="2999">
                <a:solidFill>
                  <a:srgbClr val="000000"/>
                </a:solidFill>
                <a:latin typeface="Proxima Nova"/>
                <a:ea typeface="Proxima Nova"/>
                <a:cs typeface="Proxima Nova"/>
                <a:sym typeface="Proxima Nova"/>
              </a:rPr>
              <a:t> (chocolate, sugar and other).</a:t>
            </a:r>
          </a:p>
        </p:txBody>
      </p:sp>
      <p:sp>
        <p:nvSpPr>
          <p:cNvPr name="TextBox 22" id="22"/>
          <p:cNvSpPr txBox="true"/>
          <p:nvPr/>
        </p:nvSpPr>
        <p:spPr>
          <a:xfrm rot="0">
            <a:off x="1438406" y="5877790"/>
            <a:ext cx="3822697" cy="457200"/>
          </a:xfrm>
          <a:prstGeom prst="rect">
            <a:avLst/>
          </a:prstGeom>
        </p:spPr>
        <p:txBody>
          <a:bodyPr anchor="t" rtlCol="false" tIns="0" lIns="0" bIns="0" rIns="0">
            <a:spAutoFit/>
          </a:bodyPr>
          <a:lstStyle/>
          <a:p>
            <a:pPr algn="l">
              <a:lnSpc>
                <a:spcPts val="3600"/>
              </a:lnSpc>
            </a:pPr>
            <a:r>
              <a:rPr lang="en-US" sz="3000" b="true">
                <a:solidFill>
                  <a:srgbClr val="000000"/>
                </a:solidFill>
                <a:latin typeface="Montserrat Bold"/>
                <a:ea typeface="Montserrat Bold"/>
                <a:cs typeface="Montserrat Bold"/>
                <a:sym typeface="Montserrat Bold"/>
              </a:rPr>
              <a:t>QUESTIONS</a:t>
            </a:r>
          </a:p>
        </p:txBody>
      </p:sp>
      <p:sp>
        <p:nvSpPr>
          <p:cNvPr name="TextBox 23" id="23"/>
          <p:cNvSpPr txBox="true"/>
          <p:nvPr/>
        </p:nvSpPr>
        <p:spPr>
          <a:xfrm rot="0">
            <a:off x="1428161" y="6496915"/>
            <a:ext cx="16013253" cy="2124075"/>
          </a:xfrm>
          <a:prstGeom prst="rect">
            <a:avLst/>
          </a:prstGeom>
        </p:spPr>
        <p:txBody>
          <a:bodyPr anchor="t" rtlCol="false" tIns="0" lIns="0" bIns="0" rIns="0">
            <a:spAutoFit/>
          </a:bodyPr>
          <a:lstStyle/>
          <a:p>
            <a:pPr algn="l" marL="647700" indent="-323850" lvl="1">
              <a:lnSpc>
                <a:spcPts val="4200"/>
              </a:lnSpc>
              <a:buAutoNum type="arabicPeriod" startAt="1"/>
            </a:pPr>
            <a:r>
              <a:rPr lang="en-US" sz="3000">
                <a:solidFill>
                  <a:srgbClr val="000000"/>
                </a:solidFill>
                <a:latin typeface="Proxima Nova"/>
                <a:ea typeface="Proxima Nova"/>
                <a:cs typeface="Proxima Nova"/>
                <a:sym typeface="Proxima Nova"/>
              </a:rPr>
              <a:t>Is our business profitable currently and how do we scale profitability?</a:t>
            </a:r>
          </a:p>
          <a:p>
            <a:pPr algn="l" marL="647700" indent="-323850" lvl="1">
              <a:lnSpc>
                <a:spcPts val="4200"/>
              </a:lnSpc>
              <a:buAutoNum type="arabicPeriod" startAt="1"/>
            </a:pPr>
            <a:r>
              <a:rPr lang="en-US" sz="3000">
                <a:solidFill>
                  <a:srgbClr val="000000"/>
                </a:solidFill>
                <a:latin typeface="Proxima Nova"/>
                <a:ea typeface="Proxima Nova"/>
                <a:cs typeface="Proxima Nova"/>
                <a:sym typeface="Proxima Nova"/>
              </a:rPr>
              <a:t>Which factory is performing the best vs worst?</a:t>
            </a:r>
          </a:p>
          <a:p>
            <a:pPr algn="l" marL="647700" indent="-323850" lvl="1">
              <a:lnSpc>
                <a:spcPts val="4200"/>
              </a:lnSpc>
              <a:buAutoNum type="arabicPeriod" startAt="1"/>
            </a:pPr>
            <a:r>
              <a:rPr lang="en-US" sz="3000">
                <a:solidFill>
                  <a:srgbClr val="000000"/>
                </a:solidFill>
                <a:latin typeface="Proxima Nova"/>
                <a:ea typeface="Proxima Nova"/>
                <a:cs typeface="Proxima Nova"/>
                <a:sym typeface="Proxima Nova"/>
              </a:rPr>
              <a:t>Which product is performing the best vs worst?</a:t>
            </a:r>
          </a:p>
          <a:p>
            <a:pPr algn="l" marL="647700" indent="-323850" lvl="1">
              <a:lnSpc>
                <a:spcPts val="4200"/>
              </a:lnSpc>
              <a:buAutoNum type="arabicPeriod" startAt="1"/>
            </a:pPr>
            <a:r>
              <a:rPr lang="en-US" sz="3000">
                <a:solidFill>
                  <a:srgbClr val="000000"/>
                </a:solidFill>
                <a:latin typeface="Proxima Nova"/>
                <a:ea typeface="Proxima Nova"/>
                <a:cs typeface="Proxima Nova"/>
                <a:sym typeface="Proxima Nova"/>
              </a:rPr>
              <a:t>Which customer is making the most profit vs units ?</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393123"/>
            <a:ext cx="15787641" cy="9038424"/>
          </a:xfrm>
          <a:custGeom>
            <a:avLst/>
            <a:gdLst/>
            <a:ahLst/>
            <a:cxnLst/>
            <a:rect r="r" b="b" t="t" l="l"/>
            <a:pathLst>
              <a:path h="9038424" w="15787641">
                <a:moveTo>
                  <a:pt x="0" y="0"/>
                </a:moveTo>
                <a:lnTo>
                  <a:pt x="15787641" y="0"/>
                </a:lnTo>
                <a:lnTo>
                  <a:pt x="15787641" y="9038424"/>
                </a:lnTo>
                <a:lnTo>
                  <a:pt x="0" y="9038424"/>
                </a:lnTo>
                <a:lnTo>
                  <a:pt x="0" y="0"/>
                </a:lnTo>
                <a:close/>
              </a:path>
            </a:pathLst>
          </a:custGeom>
          <a:blipFill>
            <a:blip r:embed="rId3"/>
            <a:stretch>
              <a:fillRect l="0" t="0" r="0" b="0"/>
            </a:stretch>
          </a:blipFill>
        </p:spPr>
      </p:sp>
      <p:sp>
        <p:nvSpPr>
          <p:cNvPr name="Freeform 3" id="3"/>
          <p:cNvSpPr/>
          <p:nvPr/>
        </p:nvSpPr>
        <p:spPr>
          <a:xfrm flipH="false" flipV="false" rot="0">
            <a:off x="1028700" y="393123"/>
            <a:ext cx="3582677" cy="3741700"/>
          </a:xfrm>
          <a:custGeom>
            <a:avLst/>
            <a:gdLst/>
            <a:ahLst/>
            <a:cxnLst/>
            <a:rect r="r" b="b" t="t" l="l"/>
            <a:pathLst>
              <a:path h="3741700" w="3582677">
                <a:moveTo>
                  <a:pt x="0" y="0"/>
                </a:moveTo>
                <a:lnTo>
                  <a:pt x="3582677" y="0"/>
                </a:lnTo>
                <a:lnTo>
                  <a:pt x="3582677" y="3741700"/>
                </a:lnTo>
                <a:lnTo>
                  <a:pt x="0" y="37417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5821931" y="4540239"/>
            <a:ext cx="3559480" cy="373630"/>
          </a:xfrm>
          <a:prstGeom prst="rect">
            <a:avLst/>
          </a:prstGeom>
        </p:spPr>
        <p:txBody>
          <a:bodyPr anchor="t" rtlCol="false" tIns="0" lIns="0" bIns="0" rIns="0">
            <a:spAutoFit/>
          </a:bodyPr>
          <a:lstStyle/>
          <a:p>
            <a:pPr algn="ctr">
              <a:lnSpc>
                <a:spcPts val="3031"/>
              </a:lnSpc>
              <a:spcBef>
                <a:spcPct val="0"/>
              </a:spcBef>
            </a:pPr>
            <a:r>
              <a:rPr lang="en-US" b="true" sz="2165">
                <a:solidFill>
                  <a:srgbClr val="000000"/>
                </a:solidFill>
                <a:latin typeface="Work Sans Bold"/>
                <a:ea typeface="Work Sans Bold"/>
                <a:cs typeface="Work Sans Bold"/>
                <a:sym typeface="Work Sans Bold"/>
              </a:rPr>
              <a:t>ORDER   financial figures</a:t>
            </a:r>
          </a:p>
        </p:txBody>
      </p:sp>
      <p:sp>
        <p:nvSpPr>
          <p:cNvPr name="TextBox 5" id="5"/>
          <p:cNvSpPr txBox="true"/>
          <p:nvPr/>
        </p:nvSpPr>
        <p:spPr>
          <a:xfrm rot="0">
            <a:off x="9630391" y="5607006"/>
            <a:ext cx="3788327" cy="373630"/>
          </a:xfrm>
          <a:prstGeom prst="rect">
            <a:avLst/>
          </a:prstGeom>
        </p:spPr>
        <p:txBody>
          <a:bodyPr anchor="t" rtlCol="false" tIns="0" lIns="0" bIns="0" rIns="0">
            <a:spAutoFit/>
          </a:bodyPr>
          <a:lstStyle/>
          <a:p>
            <a:pPr algn="ctr">
              <a:lnSpc>
                <a:spcPts val="3031"/>
              </a:lnSpc>
              <a:spcBef>
                <a:spcPct val="0"/>
              </a:spcBef>
            </a:pPr>
            <a:r>
              <a:rPr lang="en-US" b="true" sz="2165">
                <a:solidFill>
                  <a:srgbClr val="000000"/>
                </a:solidFill>
                <a:latin typeface="Work Sans Bold"/>
                <a:ea typeface="Work Sans Bold"/>
                <a:cs typeface="Work Sans Bold"/>
                <a:sym typeface="Work Sans Bold"/>
              </a:rPr>
              <a:t>PRODUCT   financial figures</a:t>
            </a:r>
          </a:p>
        </p:txBody>
      </p:sp>
      <p:sp>
        <p:nvSpPr>
          <p:cNvPr name="TextBox 6" id="6"/>
          <p:cNvSpPr txBox="true"/>
          <p:nvPr/>
        </p:nvSpPr>
        <p:spPr>
          <a:xfrm rot="0">
            <a:off x="14193755" y="4540239"/>
            <a:ext cx="3788327" cy="373630"/>
          </a:xfrm>
          <a:prstGeom prst="rect">
            <a:avLst/>
          </a:prstGeom>
        </p:spPr>
        <p:txBody>
          <a:bodyPr anchor="t" rtlCol="false" tIns="0" lIns="0" bIns="0" rIns="0">
            <a:spAutoFit/>
          </a:bodyPr>
          <a:lstStyle/>
          <a:p>
            <a:pPr algn="ctr">
              <a:lnSpc>
                <a:spcPts val="3031"/>
              </a:lnSpc>
              <a:spcBef>
                <a:spcPct val="0"/>
              </a:spcBef>
            </a:pPr>
            <a:r>
              <a:rPr lang="en-US" b="true" sz="2165">
                <a:solidFill>
                  <a:srgbClr val="000000"/>
                </a:solidFill>
                <a:latin typeface="Work Sans Bold"/>
                <a:ea typeface="Work Sans Bold"/>
                <a:cs typeface="Work Sans Bold"/>
                <a:sym typeface="Work Sans Bold"/>
              </a:rPr>
              <a:t>FACTORY   financial figures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19211" y="1856893"/>
            <a:ext cx="10663827" cy="6027380"/>
          </a:xfrm>
          <a:custGeom>
            <a:avLst/>
            <a:gdLst/>
            <a:ahLst/>
            <a:cxnLst/>
            <a:rect r="r" b="b" t="t" l="l"/>
            <a:pathLst>
              <a:path h="6027380" w="10663827">
                <a:moveTo>
                  <a:pt x="0" y="0"/>
                </a:moveTo>
                <a:lnTo>
                  <a:pt x="10663827" y="0"/>
                </a:lnTo>
                <a:lnTo>
                  <a:pt x="10663827" y="6027380"/>
                </a:lnTo>
                <a:lnTo>
                  <a:pt x="0" y="6027380"/>
                </a:lnTo>
                <a:lnTo>
                  <a:pt x="0" y="0"/>
                </a:lnTo>
                <a:close/>
              </a:path>
            </a:pathLst>
          </a:custGeom>
          <a:blipFill>
            <a:blip r:embed="rId3"/>
            <a:stretch>
              <a:fillRect l="0" t="0" r="0" b="0"/>
            </a:stretch>
          </a:blipFill>
        </p:spPr>
      </p:sp>
      <p:sp>
        <p:nvSpPr>
          <p:cNvPr name="TextBox 3" id="3"/>
          <p:cNvSpPr txBox="true"/>
          <p:nvPr/>
        </p:nvSpPr>
        <p:spPr>
          <a:xfrm rot="0">
            <a:off x="1028700" y="457200"/>
            <a:ext cx="6430453" cy="571500"/>
          </a:xfrm>
          <a:prstGeom prst="rect">
            <a:avLst/>
          </a:prstGeom>
        </p:spPr>
        <p:txBody>
          <a:bodyPr anchor="t" rtlCol="false" tIns="0" lIns="0" bIns="0" rIns="0">
            <a:spAutoFit/>
          </a:bodyPr>
          <a:lstStyle/>
          <a:p>
            <a:pPr algn="l">
              <a:lnSpc>
                <a:spcPts val="4560"/>
              </a:lnSpc>
            </a:pPr>
            <a:r>
              <a:rPr lang="en-US" sz="3800" b="true">
                <a:solidFill>
                  <a:srgbClr val="000000"/>
                </a:solidFill>
                <a:latin typeface="Montserrat Bold"/>
                <a:ea typeface="Montserrat Bold"/>
                <a:cs typeface="Montserrat Bold"/>
                <a:sym typeface="Montserrat Bold"/>
              </a:rPr>
              <a:t>Overall Financial Health</a:t>
            </a:r>
          </a:p>
        </p:txBody>
      </p:sp>
      <p:grpSp>
        <p:nvGrpSpPr>
          <p:cNvPr name="Group 4" id="4"/>
          <p:cNvGrpSpPr/>
          <p:nvPr/>
        </p:nvGrpSpPr>
        <p:grpSpPr>
          <a:xfrm rot="0">
            <a:off x="11008951" y="1476375"/>
            <a:ext cx="6888899" cy="6255078"/>
            <a:chOff x="0" y="0"/>
            <a:chExt cx="1814360" cy="1647428"/>
          </a:xfrm>
        </p:grpSpPr>
        <p:sp>
          <p:nvSpPr>
            <p:cNvPr name="Freeform 5" id="5"/>
            <p:cNvSpPr/>
            <p:nvPr/>
          </p:nvSpPr>
          <p:spPr>
            <a:xfrm flipH="false" flipV="false" rot="0">
              <a:off x="0" y="0"/>
              <a:ext cx="1814360" cy="1647428"/>
            </a:xfrm>
            <a:custGeom>
              <a:avLst/>
              <a:gdLst/>
              <a:ahLst/>
              <a:cxnLst/>
              <a:rect r="r" b="b" t="t" l="l"/>
              <a:pathLst>
                <a:path h="1647428" w="1814360">
                  <a:moveTo>
                    <a:pt x="33715" y="0"/>
                  </a:moveTo>
                  <a:lnTo>
                    <a:pt x="1780645" y="0"/>
                  </a:lnTo>
                  <a:cubicBezTo>
                    <a:pt x="1799266" y="0"/>
                    <a:pt x="1814360" y="15095"/>
                    <a:pt x="1814360" y="33715"/>
                  </a:cubicBezTo>
                  <a:lnTo>
                    <a:pt x="1814360" y="1613713"/>
                  </a:lnTo>
                  <a:cubicBezTo>
                    <a:pt x="1814360" y="1622655"/>
                    <a:pt x="1810808" y="1631230"/>
                    <a:pt x="1804485" y="1637553"/>
                  </a:cubicBezTo>
                  <a:cubicBezTo>
                    <a:pt x="1798163" y="1643876"/>
                    <a:pt x="1789587" y="1647428"/>
                    <a:pt x="1780645" y="1647428"/>
                  </a:cubicBezTo>
                  <a:lnTo>
                    <a:pt x="33715" y="1647428"/>
                  </a:lnTo>
                  <a:cubicBezTo>
                    <a:pt x="24773" y="1647428"/>
                    <a:pt x="16198" y="1643876"/>
                    <a:pt x="9875" y="1637553"/>
                  </a:cubicBezTo>
                  <a:cubicBezTo>
                    <a:pt x="3552" y="1631230"/>
                    <a:pt x="0" y="1622655"/>
                    <a:pt x="0" y="1613713"/>
                  </a:cubicBezTo>
                  <a:lnTo>
                    <a:pt x="0" y="33715"/>
                  </a:lnTo>
                  <a:cubicBezTo>
                    <a:pt x="0" y="24773"/>
                    <a:pt x="3552" y="16198"/>
                    <a:pt x="9875" y="9875"/>
                  </a:cubicBezTo>
                  <a:cubicBezTo>
                    <a:pt x="16198" y="3552"/>
                    <a:pt x="24773" y="0"/>
                    <a:pt x="33715" y="0"/>
                  </a:cubicBezTo>
                  <a:close/>
                </a:path>
              </a:pathLst>
            </a:custGeom>
            <a:solidFill>
              <a:srgbClr val="412A1D"/>
            </a:solidFill>
          </p:spPr>
        </p:sp>
        <p:sp>
          <p:nvSpPr>
            <p:cNvPr name="TextBox 6" id="6"/>
            <p:cNvSpPr txBox="true"/>
            <p:nvPr/>
          </p:nvSpPr>
          <p:spPr>
            <a:xfrm>
              <a:off x="0" y="-28575"/>
              <a:ext cx="1814360" cy="1676003"/>
            </a:xfrm>
            <a:prstGeom prst="rect">
              <a:avLst/>
            </a:prstGeom>
          </p:spPr>
          <p:txBody>
            <a:bodyPr anchor="ctr" rtlCol="false" tIns="50800" lIns="50800" bIns="50800" rIns="50800"/>
            <a:lstStyle/>
            <a:p>
              <a:pPr algn="ctr">
                <a:lnSpc>
                  <a:spcPts val="2100"/>
                </a:lnSpc>
              </a:pPr>
            </a:p>
          </p:txBody>
        </p:sp>
      </p:grpSp>
      <p:sp>
        <p:nvSpPr>
          <p:cNvPr name="TextBox 7" id="7"/>
          <p:cNvSpPr txBox="true"/>
          <p:nvPr/>
        </p:nvSpPr>
        <p:spPr>
          <a:xfrm rot="0">
            <a:off x="11363328" y="1851741"/>
            <a:ext cx="3822697" cy="409575"/>
          </a:xfrm>
          <a:prstGeom prst="rect">
            <a:avLst/>
          </a:prstGeom>
        </p:spPr>
        <p:txBody>
          <a:bodyPr anchor="t" rtlCol="false" tIns="0" lIns="0" bIns="0" rIns="0">
            <a:spAutoFit/>
          </a:bodyPr>
          <a:lstStyle/>
          <a:p>
            <a:pPr algn="l">
              <a:lnSpc>
                <a:spcPts val="3239"/>
              </a:lnSpc>
            </a:pPr>
            <a:r>
              <a:rPr lang="en-US" sz="2699" b="true">
                <a:solidFill>
                  <a:srgbClr val="FFFFFF"/>
                </a:solidFill>
                <a:latin typeface="Montserrat Bold"/>
                <a:ea typeface="Montserrat Bold"/>
                <a:cs typeface="Montserrat Bold"/>
                <a:sym typeface="Montserrat Bold"/>
              </a:rPr>
              <a:t>Insight</a:t>
            </a:r>
          </a:p>
        </p:txBody>
      </p:sp>
      <p:sp>
        <p:nvSpPr>
          <p:cNvPr name="TextBox 8" id="8"/>
          <p:cNvSpPr txBox="true"/>
          <p:nvPr/>
        </p:nvSpPr>
        <p:spPr>
          <a:xfrm rot="0">
            <a:off x="11277988" y="2251791"/>
            <a:ext cx="6350824" cy="5241925"/>
          </a:xfrm>
          <a:prstGeom prst="rect">
            <a:avLst/>
          </a:prstGeom>
        </p:spPr>
        <p:txBody>
          <a:bodyPr anchor="t" rtlCol="false" tIns="0" lIns="0" bIns="0" rIns="0">
            <a:spAutoFit/>
          </a:bodyPr>
          <a:lstStyle/>
          <a:p>
            <a:pPr algn="l">
              <a:lnSpc>
                <a:spcPts val="3499"/>
              </a:lnSpc>
            </a:pPr>
          </a:p>
          <a:p>
            <a:pPr algn="l" marL="539748" indent="-269874" lvl="1">
              <a:lnSpc>
                <a:spcPts val="3499"/>
              </a:lnSpc>
              <a:buFont typeface="Arial"/>
              <a:buChar char="•"/>
            </a:pPr>
            <a:r>
              <a:rPr lang="en-US" sz="2499">
                <a:solidFill>
                  <a:srgbClr val="FFFFFF"/>
                </a:solidFill>
                <a:latin typeface="Proxima Nova"/>
                <a:ea typeface="Proxima Nova"/>
                <a:cs typeface="Proxima Nova"/>
                <a:sym typeface="Proxima Nova"/>
              </a:rPr>
              <a:t>The business is structurally profitable: a</a:t>
            </a:r>
            <a:r>
              <a:rPr lang="en-US" sz="2499">
                <a:solidFill>
                  <a:srgbClr val="FFFFFF"/>
                </a:solidFill>
                <a:latin typeface="Proxima Nova"/>
                <a:ea typeface="Proxima Nova"/>
                <a:cs typeface="Proxima Nova"/>
                <a:sym typeface="Proxima Nova"/>
              </a:rPr>
              <a:t>ll transactions generate positive gross profit (no loss-making rows).</a:t>
            </a:r>
          </a:p>
          <a:p>
            <a:pPr algn="l">
              <a:lnSpc>
                <a:spcPts val="3499"/>
              </a:lnSpc>
            </a:pPr>
          </a:p>
          <a:p>
            <a:pPr algn="l" marL="539748" indent="-269874" lvl="1">
              <a:lnSpc>
                <a:spcPts val="3499"/>
              </a:lnSpc>
              <a:buFont typeface="Arial"/>
              <a:buChar char="•"/>
            </a:pPr>
            <a:r>
              <a:rPr lang="en-US" sz="2499">
                <a:solidFill>
                  <a:srgbClr val="FFFFFF"/>
                </a:solidFill>
                <a:latin typeface="Proxima Nova"/>
                <a:ea typeface="Proxima Nova"/>
                <a:cs typeface="Proxima Nova"/>
                <a:sym typeface="Proxima Nova"/>
              </a:rPr>
              <a:t>Gross profit represents a large share of sales.</a:t>
            </a:r>
          </a:p>
          <a:p>
            <a:pPr algn="l">
              <a:lnSpc>
                <a:spcPts val="3499"/>
              </a:lnSpc>
            </a:pPr>
          </a:p>
          <a:p>
            <a:pPr algn="l" marL="539748" indent="-269874" lvl="1">
              <a:lnSpc>
                <a:spcPts val="3499"/>
              </a:lnSpc>
              <a:buFont typeface="Arial"/>
              <a:buChar char="•"/>
            </a:pPr>
            <a:r>
              <a:rPr lang="en-US" sz="2499">
                <a:solidFill>
                  <a:srgbClr val="FFFFFF"/>
                </a:solidFill>
                <a:latin typeface="Proxima Nova"/>
                <a:ea typeface="Proxima Nova"/>
                <a:cs typeface="Proxima Nova"/>
                <a:sym typeface="Proxima Nova"/>
              </a:rPr>
              <a:t>However, profitability alone does not guarantee resilience — profit concentration and margin dependency must be assessed.</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546116" y="1172274"/>
            <a:ext cx="10775247" cy="5319426"/>
          </a:xfrm>
          <a:custGeom>
            <a:avLst/>
            <a:gdLst/>
            <a:ahLst/>
            <a:cxnLst/>
            <a:rect r="r" b="b" t="t" l="l"/>
            <a:pathLst>
              <a:path h="5319426" w="10775247">
                <a:moveTo>
                  <a:pt x="0" y="0"/>
                </a:moveTo>
                <a:lnTo>
                  <a:pt x="10775247" y="0"/>
                </a:lnTo>
                <a:lnTo>
                  <a:pt x="10775247" y="5319426"/>
                </a:lnTo>
                <a:lnTo>
                  <a:pt x="0" y="5319426"/>
                </a:lnTo>
                <a:lnTo>
                  <a:pt x="0" y="0"/>
                </a:lnTo>
                <a:close/>
              </a:path>
            </a:pathLst>
          </a:custGeom>
          <a:blipFill>
            <a:blip r:embed="rId3"/>
            <a:stretch>
              <a:fillRect l="0" t="0" r="0" b="0"/>
            </a:stretch>
          </a:blipFill>
        </p:spPr>
      </p:sp>
      <p:sp>
        <p:nvSpPr>
          <p:cNvPr name="TextBox 3" id="3"/>
          <p:cNvSpPr txBox="true"/>
          <p:nvPr/>
        </p:nvSpPr>
        <p:spPr>
          <a:xfrm rot="0">
            <a:off x="13138869" y="4635684"/>
            <a:ext cx="4588028" cy="349250"/>
          </a:xfrm>
          <a:prstGeom prst="rect">
            <a:avLst/>
          </a:prstGeom>
        </p:spPr>
        <p:txBody>
          <a:bodyPr anchor="t" rtlCol="false" tIns="0" lIns="0" bIns="0" rIns="0">
            <a:spAutoFit/>
          </a:bodyPr>
          <a:lstStyle/>
          <a:p>
            <a:pPr algn="l">
              <a:lnSpc>
                <a:spcPts val="2800"/>
              </a:lnSpc>
            </a:pPr>
            <a:r>
              <a:rPr lang="en-US" sz="2000">
                <a:solidFill>
                  <a:srgbClr val="FFFFFF"/>
                </a:solidFill>
                <a:latin typeface="Proxima Nova"/>
                <a:ea typeface="Proxima Nova"/>
                <a:cs typeface="Proxima Nova"/>
                <a:sym typeface="Proxima Nova"/>
              </a:rPr>
              <a:t>text</a:t>
            </a:r>
          </a:p>
        </p:txBody>
      </p:sp>
      <p:sp>
        <p:nvSpPr>
          <p:cNvPr name="TextBox 4" id="4"/>
          <p:cNvSpPr txBox="true"/>
          <p:nvPr/>
        </p:nvSpPr>
        <p:spPr>
          <a:xfrm rot="0">
            <a:off x="13138869" y="4015081"/>
            <a:ext cx="2761633" cy="390525"/>
          </a:xfrm>
          <a:prstGeom prst="rect">
            <a:avLst/>
          </a:prstGeom>
        </p:spPr>
        <p:txBody>
          <a:bodyPr anchor="t" rtlCol="false" tIns="0" lIns="0" bIns="0" rIns="0">
            <a:spAutoFit/>
          </a:bodyPr>
          <a:lstStyle/>
          <a:p>
            <a:pPr algn="l">
              <a:lnSpc>
                <a:spcPts val="3119"/>
              </a:lnSpc>
            </a:pPr>
            <a:r>
              <a:rPr lang="en-US" sz="2599" b="true">
                <a:solidFill>
                  <a:srgbClr val="FFFFFF"/>
                </a:solidFill>
                <a:latin typeface="Montserrat Bold"/>
                <a:ea typeface="Montserrat Bold"/>
                <a:cs typeface="Montserrat Bold"/>
                <a:sym typeface="Montserrat Bold"/>
              </a:rPr>
              <a:t>Interpretation</a:t>
            </a:r>
          </a:p>
        </p:txBody>
      </p:sp>
      <p:sp>
        <p:nvSpPr>
          <p:cNvPr name="TextBox 5" id="5"/>
          <p:cNvSpPr txBox="true"/>
          <p:nvPr/>
        </p:nvSpPr>
        <p:spPr>
          <a:xfrm rot="0">
            <a:off x="12950040" y="4689816"/>
            <a:ext cx="2761633" cy="781050"/>
          </a:xfrm>
          <a:prstGeom prst="rect">
            <a:avLst/>
          </a:prstGeom>
        </p:spPr>
        <p:txBody>
          <a:bodyPr anchor="t" rtlCol="false" tIns="0" lIns="0" bIns="0" rIns="0">
            <a:spAutoFit/>
          </a:bodyPr>
          <a:lstStyle/>
          <a:p>
            <a:pPr algn="l">
              <a:lnSpc>
                <a:spcPts val="3119"/>
              </a:lnSpc>
            </a:pPr>
            <a:r>
              <a:rPr lang="en-US" sz="2599" b="true">
                <a:solidFill>
                  <a:srgbClr val="FFFFFF"/>
                </a:solidFill>
                <a:latin typeface="Montserrat Bold"/>
                <a:ea typeface="Montserrat Bold"/>
                <a:cs typeface="Montserrat Bold"/>
                <a:sym typeface="Montserrat Bold"/>
              </a:rPr>
              <a:t>Business Impact</a:t>
            </a:r>
          </a:p>
        </p:txBody>
      </p:sp>
      <p:sp>
        <p:nvSpPr>
          <p:cNvPr name="TextBox 6" id="6"/>
          <p:cNvSpPr txBox="true"/>
          <p:nvPr/>
        </p:nvSpPr>
        <p:spPr>
          <a:xfrm rot="0">
            <a:off x="13416037" y="3373427"/>
            <a:ext cx="4588028" cy="349250"/>
          </a:xfrm>
          <a:prstGeom prst="rect">
            <a:avLst/>
          </a:prstGeom>
        </p:spPr>
        <p:txBody>
          <a:bodyPr anchor="t" rtlCol="false" tIns="0" lIns="0" bIns="0" rIns="0">
            <a:spAutoFit/>
          </a:bodyPr>
          <a:lstStyle/>
          <a:p>
            <a:pPr algn="l">
              <a:lnSpc>
                <a:spcPts val="2800"/>
              </a:lnSpc>
            </a:pPr>
            <a:r>
              <a:rPr lang="en-US" sz="2000">
                <a:solidFill>
                  <a:srgbClr val="FFFFFF"/>
                </a:solidFill>
                <a:latin typeface="Proxima Nova"/>
                <a:ea typeface="Proxima Nova"/>
                <a:cs typeface="Proxima Nova"/>
                <a:sym typeface="Proxima Nova"/>
              </a:rPr>
              <a:t>text</a:t>
            </a:r>
          </a:p>
        </p:txBody>
      </p:sp>
      <p:sp>
        <p:nvSpPr>
          <p:cNvPr name="TextBox 7" id="7"/>
          <p:cNvSpPr txBox="true"/>
          <p:nvPr/>
        </p:nvSpPr>
        <p:spPr>
          <a:xfrm rot="0">
            <a:off x="546116" y="346463"/>
            <a:ext cx="10968542" cy="571500"/>
          </a:xfrm>
          <a:prstGeom prst="rect">
            <a:avLst/>
          </a:prstGeom>
        </p:spPr>
        <p:txBody>
          <a:bodyPr anchor="t" rtlCol="false" tIns="0" lIns="0" bIns="0" rIns="0">
            <a:spAutoFit/>
          </a:bodyPr>
          <a:lstStyle/>
          <a:p>
            <a:pPr algn="l">
              <a:lnSpc>
                <a:spcPts val="4560"/>
              </a:lnSpc>
            </a:pPr>
            <a:r>
              <a:rPr lang="en-US" sz="3800" b="true">
                <a:solidFill>
                  <a:srgbClr val="000000"/>
                </a:solidFill>
                <a:latin typeface="Montserrat Bold"/>
                <a:ea typeface="Montserrat Bold"/>
                <a:cs typeface="Montserrat Bold"/>
                <a:sym typeface="Montserrat Bold"/>
              </a:rPr>
              <a:t>Profit Concentration Across Margin Bands</a:t>
            </a:r>
          </a:p>
        </p:txBody>
      </p:sp>
      <p:grpSp>
        <p:nvGrpSpPr>
          <p:cNvPr name="Group 8" id="8"/>
          <p:cNvGrpSpPr/>
          <p:nvPr/>
        </p:nvGrpSpPr>
        <p:grpSpPr>
          <a:xfrm rot="0">
            <a:off x="11514658" y="1028700"/>
            <a:ext cx="6627991" cy="8614475"/>
            <a:chOff x="0" y="0"/>
            <a:chExt cx="1745644" cy="2268833"/>
          </a:xfrm>
        </p:grpSpPr>
        <p:sp>
          <p:nvSpPr>
            <p:cNvPr name="Freeform 9" id="9"/>
            <p:cNvSpPr/>
            <p:nvPr/>
          </p:nvSpPr>
          <p:spPr>
            <a:xfrm flipH="false" flipV="false" rot="0">
              <a:off x="0" y="0"/>
              <a:ext cx="1745644" cy="2268833"/>
            </a:xfrm>
            <a:custGeom>
              <a:avLst/>
              <a:gdLst/>
              <a:ahLst/>
              <a:cxnLst/>
              <a:rect r="r" b="b" t="t" l="l"/>
              <a:pathLst>
                <a:path h="2268833" w="1745644">
                  <a:moveTo>
                    <a:pt x="35042" y="0"/>
                  </a:moveTo>
                  <a:lnTo>
                    <a:pt x="1710602" y="0"/>
                  </a:lnTo>
                  <a:cubicBezTo>
                    <a:pt x="1719896" y="0"/>
                    <a:pt x="1728809" y="3692"/>
                    <a:pt x="1735380" y="10264"/>
                  </a:cubicBezTo>
                  <a:cubicBezTo>
                    <a:pt x="1741952" y="16835"/>
                    <a:pt x="1745644" y="25748"/>
                    <a:pt x="1745644" y="35042"/>
                  </a:cubicBezTo>
                  <a:lnTo>
                    <a:pt x="1745644" y="2233791"/>
                  </a:lnTo>
                  <a:cubicBezTo>
                    <a:pt x="1745644" y="2253144"/>
                    <a:pt x="1729955" y="2268833"/>
                    <a:pt x="1710602" y="2268833"/>
                  </a:cubicBezTo>
                  <a:lnTo>
                    <a:pt x="35042" y="2268833"/>
                  </a:lnTo>
                  <a:cubicBezTo>
                    <a:pt x="25748" y="2268833"/>
                    <a:pt x="16835" y="2265141"/>
                    <a:pt x="10264" y="2258569"/>
                  </a:cubicBezTo>
                  <a:cubicBezTo>
                    <a:pt x="3692" y="2251998"/>
                    <a:pt x="0" y="2243085"/>
                    <a:pt x="0" y="2233791"/>
                  </a:cubicBezTo>
                  <a:lnTo>
                    <a:pt x="0" y="35042"/>
                  </a:lnTo>
                  <a:cubicBezTo>
                    <a:pt x="0" y="25748"/>
                    <a:pt x="3692" y="16835"/>
                    <a:pt x="10264" y="10264"/>
                  </a:cubicBezTo>
                  <a:cubicBezTo>
                    <a:pt x="16835" y="3692"/>
                    <a:pt x="25748" y="0"/>
                    <a:pt x="35042" y="0"/>
                  </a:cubicBezTo>
                  <a:close/>
                </a:path>
              </a:pathLst>
            </a:custGeom>
            <a:solidFill>
              <a:srgbClr val="412A1D"/>
            </a:solidFill>
          </p:spPr>
        </p:sp>
        <p:sp>
          <p:nvSpPr>
            <p:cNvPr name="TextBox 10" id="10"/>
            <p:cNvSpPr txBox="true"/>
            <p:nvPr/>
          </p:nvSpPr>
          <p:spPr>
            <a:xfrm>
              <a:off x="0" y="-28575"/>
              <a:ext cx="1745644" cy="2297408"/>
            </a:xfrm>
            <a:prstGeom prst="rect">
              <a:avLst/>
            </a:prstGeom>
          </p:spPr>
          <p:txBody>
            <a:bodyPr anchor="ctr" rtlCol="false" tIns="50800" lIns="50800" bIns="50800" rIns="50800"/>
            <a:lstStyle/>
            <a:p>
              <a:pPr algn="ctr">
                <a:lnSpc>
                  <a:spcPts val="2100"/>
                </a:lnSpc>
              </a:pPr>
            </a:p>
          </p:txBody>
        </p:sp>
      </p:grpSp>
      <p:sp>
        <p:nvSpPr>
          <p:cNvPr name="TextBox 11" id="11"/>
          <p:cNvSpPr txBox="true"/>
          <p:nvPr/>
        </p:nvSpPr>
        <p:spPr>
          <a:xfrm rot="0">
            <a:off x="11844769" y="1172274"/>
            <a:ext cx="1571268" cy="409575"/>
          </a:xfrm>
          <a:prstGeom prst="rect">
            <a:avLst/>
          </a:prstGeom>
        </p:spPr>
        <p:txBody>
          <a:bodyPr anchor="t" rtlCol="false" tIns="0" lIns="0" bIns="0" rIns="0">
            <a:spAutoFit/>
          </a:bodyPr>
          <a:lstStyle/>
          <a:p>
            <a:pPr algn="l">
              <a:lnSpc>
                <a:spcPts val="3239"/>
              </a:lnSpc>
            </a:pPr>
            <a:r>
              <a:rPr lang="en-US" sz="2699" b="true">
                <a:solidFill>
                  <a:srgbClr val="FFFFFF"/>
                </a:solidFill>
                <a:latin typeface="Montserrat Bold"/>
                <a:ea typeface="Montserrat Bold"/>
                <a:cs typeface="Montserrat Bold"/>
                <a:sym typeface="Montserrat Bold"/>
              </a:rPr>
              <a:t>Insight</a:t>
            </a:r>
          </a:p>
        </p:txBody>
      </p:sp>
      <p:sp>
        <p:nvSpPr>
          <p:cNvPr name="TextBox 12" id="12"/>
          <p:cNvSpPr txBox="true"/>
          <p:nvPr/>
        </p:nvSpPr>
        <p:spPr>
          <a:xfrm rot="0">
            <a:off x="11514658" y="1772349"/>
            <a:ext cx="6350824" cy="7870825"/>
          </a:xfrm>
          <a:prstGeom prst="rect">
            <a:avLst/>
          </a:prstGeom>
        </p:spPr>
        <p:txBody>
          <a:bodyPr anchor="t" rtlCol="false" tIns="0" lIns="0" bIns="0" rIns="0">
            <a:spAutoFit/>
          </a:bodyPr>
          <a:lstStyle/>
          <a:p>
            <a:pPr algn="l" marL="539748" indent="-269874" lvl="1">
              <a:lnSpc>
                <a:spcPts val="3499"/>
              </a:lnSpc>
              <a:buFont typeface="Arial"/>
              <a:buChar char="•"/>
            </a:pPr>
            <a:r>
              <a:rPr lang="en-US" sz="2499">
                <a:solidFill>
                  <a:srgbClr val="FFFFFF"/>
                </a:solidFill>
                <a:latin typeface="Proxima Nova"/>
                <a:ea typeface="Proxima Nova"/>
                <a:cs typeface="Proxima Nova"/>
                <a:sym typeface="Proxima Nova"/>
              </a:rPr>
              <a:t>Total gross profit is highly concentrated in the 60–69% margin</a:t>
            </a:r>
            <a:r>
              <a:rPr lang="en-US" sz="2499">
                <a:solidFill>
                  <a:srgbClr val="FFFFFF"/>
                </a:solidFill>
                <a:latin typeface="Proxima Nova"/>
                <a:ea typeface="Proxima Nova"/>
                <a:cs typeface="Proxima Nova"/>
                <a:sym typeface="Proxima Nova"/>
              </a:rPr>
              <a:t> band, which accounts for the majority of profit generation.</a:t>
            </a:r>
          </a:p>
          <a:p>
            <a:pPr algn="l">
              <a:lnSpc>
                <a:spcPts val="3499"/>
              </a:lnSpc>
            </a:pPr>
          </a:p>
          <a:p>
            <a:pPr algn="l" marL="539748" indent="-269874" lvl="1">
              <a:lnSpc>
                <a:spcPts val="3499"/>
              </a:lnSpc>
              <a:buFont typeface="Arial"/>
              <a:buChar char="•"/>
            </a:pPr>
            <a:r>
              <a:rPr lang="en-US" sz="2499">
                <a:solidFill>
                  <a:srgbClr val="FFFFFF"/>
                </a:solidFill>
                <a:latin typeface="Proxima Nova"/>
                <a:ea typeface="Proxima Nova"/>
                <a:cs typeface="Proxima Nova"/>
                <a:sym typeface="Proxima Nova"/>
              </a:rPr>
              <a:t>The 70–79% margin band sh</a:t>
            </a:r>
            <a:r>
              <a:rPr lang="en-US" sz="2499">
                <a:solidFill>
                  <a:srgbClr val="FFFFFF"/>
                </a:solidFill>
                <a:latin typeface="Proxima Nova"/>
                <a:ea typeface="Proxima Nova"/>
                <a:cs typeface="Proxima Nova"/>
                <a:sym typeface="Proxima Nova"/>
              </a:rPr>
              <a:t>ows strong margins but significantly lower volume, limiting its total profit contribution.</a:t>
            </a:r>
          </a:p>
          <a:p>
            <a:pPr algn="l">
              <a:lnSpc>
                <a:spcPts val="3499"/>
              </a:lnSpc>
            </a:pPr>
          </a:p>
          <a:p>
            <a:pPr algn="l" marL="539748" indent="-269874" lvl="1">
              <a:lnSpc>
                <a:spcPts val="3499"/>
              </a:lnSpc>
              <a:buFont typeface="Arial"/>
              <a:buChar char="•"/>
            </a:pPr>
            <a:r>
              <a:rPr lang="en-US" sz="2499">
                <a:solidFill>
                  <a:srgbClr val="FFFFFF"/>
                </a:solidFill>
                <a:latin typeface="Proxima Nova"/>
                <a:ea typeface="Proxima Nova"/>
                <a:cs typeface="Proxima Nova"/>
                <a:sym typeface="Proxima Nova"/>
              </a:rPr>
              <a:t>Very high margin bands (80%+) exist but are negligible in volume, suggesting niche products or special cases rather than scalable drivers.</a:t>
            </a:r>
          </a:p>
          <a:p>
            <a:pPr algn="l">
              <a:lnSpc>
                <a:spcPts val="3499"/>
              </a:lnSpc>
            </a:pPr>
          </a:p>
          <a:p>
            <a:pPr algn="l" marL="539748" indent="-269874" lvl="1">
              <a:lnSpc>
                <a:spcPts val="3499"/>
              </a:lnSpc>
              <a:buFont typeface="Arial"/>
              <a:buChar char="•"/>
            </a:pPr>
            <a:r>
              <a:rPr lang="en-US" sz="2499">
                <a:solidFill>
                  <a:srgbClr val="FFFFFF"/>
                </a:solidFill>
                <a:latin typeface="Proxima Nova"/>
                <a:ea typeface="Proxima Nova"/>
                <a:cs typeface="Proxima Nova"/>
                <a:sym typeface="Proxima Nova"/>
              </a:rPr>
              <a:t>Low and mid-margin bands (&lt;50%) contribute almost no profit, despite having some transaction presence.</a:t>
            </a:r>
          </a:p>
          <a:p>
            <a:pPr algn="l">
              <a:lnSpc>
                <a:spcPts val="3499"/>
              </a:lnSpc>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06963" y="1995553"/>
            <a:ext cx="10535973" cy="6295895"/>
          </a:xfrm>
          <a:custGeom>
            <a:avLst/>
            <a:gdLst/>
            <a:ahLst/>
            <a:cxnLst/>
            <a:rect r="r" b="b" t="t" l="l"/>
            <a:pathLst>
              <a:path h="6295895" w="10535973">
                <a:moveTo>
                  <a:pt x="0" y="0"/>
                </a:moveTo>
                <a:lnTo>
                  <a:pt x="10535973" y="0"/>
                </a:lnTo>
                <a:lnTo>
                  <a:pt x="10535973" y="6295894"/>
                </a:lnTo>
                <a:lnTo>
                  <a:pt x="0" y="6295894"/>
                </a:lnTo>
                <a:lnTo>
                  <a:pt x="0" y="0"/>
                </a:lnTo>
                <a:close/>
              </a:path>
            </a:pathLst>
          </a:custGeom>
          <a:blipFill>
            <a:blip r:embed="rId3"/>
            <a:stretch>
              <a:fillRect l="0" t="0" r="-220" b="0"/>
            </a:stretch>
          </a:blipFill>
          <a:ln w="38100" cap="sq">
            <a:solidFill>
              <a:srgbClr val="8A756A"/>
            </a:solidFill>
            <a:prstDash val="solid"/>
            <a:miter/>
          </a:ln>
        </p:spPr>
      </p:sp>
      <p:sp>
        <p:nvSpPr>
          <p:cNvPr name="TextBox 3" id="3"/>
          <p:cNvSpPr txBox="true"/>
          <p:nvPr/>
        </p:nvSpPr>
        <p:spPr>
          <a:xfrm rot="0">
            <a:off x="546116" y="308363"/>
            <a:ext cx="10057668" cy="571500"/>
          </a:xfrm>
          <a:prstGeom prst="rect">
            <a:avLst/>
          </a:prstGeom>
        </p:spPr>
        <p:txBody>
          <a:bodyPr anchor="t" rtlCol="false" tIns="0" lIns="0" bIns="0" rIns="0">
            <a:spAutoFit/>
          </a:bodyPr>
          <a:lstStyle/>
          <a:p>
            <a:pPr algn="l">
              <a:lnSpc>
                <a:spcPts val="4560"/>
              </a:lnSpc>
            </a:pPr>
            <a:r>
              <a:rPr lang="en-US" sz="3800" b="true">
                <a:solidFill>
                  <a:srgbClr val="000000"/>
                </a:solidFill>
                <a:latin typeface="Montserrat Bold"/>
                <a:ea typeface="Montserrat Bold"/>
                <a:cs typeface="Montserrat Bold"/>
                <a:sym typeface="Montserrat Bold"/>
              </a:rPr>
              <a:t>Financial Figure of the Factories </a:t>
            </a:r>
          </a:p>
        </p:txBody>
      </p:sp>
      <p:grpSp>
        <p:nvGrpSpPr>
          <p:cNvPr name="Group 4" id="4"/>
          <p:cNvGrpSpPr/>
          <p:nvPr/>
        </p:nvGrpSpPr>
        <p:grpSpPr>
          <a:xfrm rot="0">
            <a:off x="11209943" y="594113"/>
            <a:ext cx="6888899" cy="2523642"/>
            <a:chOff x="0" y="0"/>
            <a:chExt cx="1814360" cy="664663"/>
          </a:xfrm>
        </p:grpSpPr>
        <p:sp>
          <p:nvSpPr>
            <p:cNvPr name="Freeform 5" id="5"/>
            <p:cNvSpPr/>
            <p:nvPr/>
          </p:nvSpPr>
          <p:spPr>
            <a:xfrm flipH="false" flipV="false" rot="0">
              <a:off x="0" y="0"/>
              <a:ext cx="1814360" cy="664663"/>
            </a:xfrm>
            <a:custGeom>
              <a:avLst/>
              <a:gdLst/>
              <a:ahLst/>
              <a:cxnLst/>
              <a:rect r="r" b="b" t="t" l="l"/>
              <a:pathLst>
                <a:path h="664663" w="1814360">
                  <a:moveTo>
                    <a:pt x="33715" y="0"/>
                  </a:moveTo>
                  <a:lnTo>
                    <a:pt x="1780645" y="0"/>
                  </a:lnTo>
                  <a:cubicBezTo>
                    <a:pt x="1799266" y="0"/>
                    <a:pt x="1814360" y="15095"/>
                    <a:pt x="1814360" y="33715"/>
                  </a:cubicBezTo>
                  <a:lnTo>
                    <a:pt x="1814360" y="630948"/>
                  </a:lnTo>
                  <a:cubicBezTo>
                    <a:pt x="1814360" y="639890"/>
                    <a:pt x="1810808" y="648465"/>
                    <a:pt x="1804485" y="654788"/>
                  </a:cubicBezTo>
                  <a:cubicBezTo>
                    <a:pt x="1798163" y="661111"/>
                    <a:pt x="1789587" y="664663"/>
                    <a:pt x="1780645" y="664663"/>
                  </a:cubicBezTo>
                  <a:lnTo>
                    <a:pt x="33715" y="664663"/>
                  </a:lnTo>
                  <a:cubicBezTo>
                    <a:pt x="24773" y="664663"/>
                    <a:pt x="16198" y="661111"/>
                    <a:pt x="9875" y="654788"/>
                  </a:cubicBezTo>
                  <a:cubicBezTo>
                    <a:pt x="3552" y="648465"/>
                    <a:pt x="0" y="639890"/>
                    <a:pt x="0" y="630948"/>
                  </a:cubicBezTo>
                  <a:lnTo>
                    <a:pt x="0" y="33715"/>
                  </a:lnTo>
                  <a:cubicBezTo>
                    <a:pt x="0" y="24773"/>
                    <a:pt x="3552" y="16198"/>
                    <a:pt x="9875" y="9875"/>
                  </a:cubicBezTo>
                  <a:cubicBezTo>
                    <a:pt x="16198" y="3552"/>
                    <a:pt x="24773" y="0"/>
                    <a:pt x="33715" y="0"/>
                  </a:cubicBezTo>
                  <a:close/>
                </a:path>
              </a:pathLst>
            </a:custGeom>
            <a:solidFill>
              <a:srgbClr val="412A1D"/>
            </a:solidFill>
          </p:spPr>
        </p:sp>
        <p:sp>
          <p:nvSpPr>
            <p:cNvPr name="TextBox 6" id="6"/>
            <p:cNvSpPr txBox="true"/>
            <p:nvPr/>
          </p:nvSpPr>
          <p:spPr>
            <a:xfrm>
              <a:off x="0" y="-28575"/>
              <a:ext cx="1814360" cy="693238"/>
            </a:xfrm>
            <a:prstGeom prst="rect">
              <a:avLst/>
            </a:prstGeom>
          </p:spPr>
          <p:txBody>
            <a:bodyPr anchor="ctr" rtlCol="false" tIns="50800" lIns="50800" bIns="50800" rIns="50800"/>
            <a:lstStyle/>
            <a:p>
              <a:pPr algn="ctr">
                <a:lnSpc>
                  <a:spcPts val="2100"/>
                </a:lnSpc>
              </a:pPr>
            </a:p>
          </p:txBody>
        </p:sp>
      </p:grpSp>
      <p:grpSp>
        <p:nvGrpSpPr>
          <p:cNvPr name="Group 7" id="7"/>
          <p:cNvGrpSpPr/>
          <p:nvPr/>
        </p:nvGrpSpPr>
        <p:grpSpPr>
          <a:xfrm rot="0">
            <a:off x="11209943" y="3298730"/>
            <a:ext cx="6888899" cy="2731364"/>
            <a:chOff x="0" y="0"/>
            <a:chExt cx="1814360" cy="719372"/>
          </a:xfrm>
        </p:grpSpPr>
        <p:sp>
          <p:nvSpPr>
            <p:cNvPr name="Freeform 8" id="8"/>
            <p:cNvSpPr/>
            <p:nvPr/>
          </p:nvSpPr>
          <p:spPr>
            <a:xfrm flipH="false" flipV="false" rot="0">
              <a:off x="0" y="0"/>
              <a:ext cx="1814360" cy="719372"/>
            </a:xfrm>
            <a:custGeom>
              <a:avLst/>
              <a:gdLst/>
              <a:ahLst/>
              <a:cxnLst/>
              <a:rect r="r" b="b" t="t" l="l"/>
              <a:pathLst>
                <a:path h="719372" w="1814360">
                  <a:moveTo>
                    <a:pt x="33715" y="0"/>
                  </a:moveTo>
                  <a:lnTo>
                    <a:pt x="1780645" y="0"/>
                  </a:lnTo>
                  <a:cubicBezTo>
                    <a:pt x="1799266" y="0"/>
                    <a:pt x="1814360" y="15095"/>
                    <a:pt x="1814360" y="33715"/>
                  </a:cubicBezTo>
                  <a:lnTo>
                    <a:pt x="1814360" y="685657"/>
                  </a:lnTo>
                  <a:cubicBezTo>
                    <a:pt x="1814360" y="694599"/>
                    <a:pt x="1810808" y="703174"/>
                    <a:pt x="1804485" y="709497"/>
                  </a:cubicBezTo>
                  <a:cubicBezTo>
                    <a:pt x="1798163" y="715820"/>
                    <a:pt x="1789587" y="719372"/>
                    <a:pt x="1780645" y="719372"/>
                  </a:cubicBezTo>
                  <a:lnTo>
                    <a:pt x="33715" y="719372"/>
                  </a:lnTo>
                  <a:cubicBezTo>
                    <a:pt x="24773" y="719372"/>
                    <a:pt x="16198" y="715820"/>
                    <a:pt x="9875" y="709497"/>
                  </a:cubicBezTo>
                  <a:cubicBezTo>
                    <a:pt x="3552" y="703174"/>
                    <a:pt x="0" y="694599"/>
                    <a:pt x="0" y="685657"/>
                  </a:cubicBezTo>
                  <a:lnTo>
                    <a:pt x="0" y="33715"/>
                  </a:lnTo>
                  <a:cubicBezTo>
                    <a:pt x="0" y="24773"/>
                    <a:pt x="3552" y="16198"/>
                    <a:pt x="9875" y="9875"/>
                  </a:cubicBezTo>
                  <a:cubicBezTo>
                    <a:pt x="16198" y="3552"/>
                    <a:pt x="24773" y="0"/>
                    <a:pt x="33715" y="0"/>
                  </a:cubicBezTo>
                  <a:close/>
                </a:path>
              </a:pathLst>
            </a:custGeom>
            <a:solidFill>
              <a:srgbClr val="675145"/>
            </a:solidFill>
          </p:spPr>
        </p:sp>
        <p:sp>
          <p:nvSpPr>
            <p:cNvPr name="TextBox 9" id="9"/>
            <p:cNvSpPr txBox="true"/>
            <p:nvPr/>
          </p:nvSpPr>
          <p:spPr>
            <a:xfrm>
              <a:off x="0" y="-28575"/>
              <a:ext cx="1814360" cy="747947"/>
            </a:xfrm>
            <a:prstGeom prst="rect">
              <a:avLst/>
            </a:prstGeom>
          </p:spPr>
          <p:txBody>
            <a:bodyPr anchor="ctr" rtlCol="false" tIns="50800" lIns="50800" bIns="50800" rIns="50800"/>
            <a:lstStyle/>
            <a:p>
              <a:pPr algn="ctr">
                <a:lnSpc>
                  <a:spcPts val="2100"/>
                </a:lnSpc>
              </a:pPr>
            </a:p>
          </p:txBody>
        </p:sp>
      </p:grpSp>
      <p:grpSp>
        <p:nvGrpSpPr>
          <p:cNvPr name="Group 10" id="10"/>
          <p:cNvGrpSpPr/>
          <p:nvPr/>
        </p:nvGrpSpPr>
        <p:grpSpPr>
          <a:xfrm rot="0">
            <a:off x="11209943" y="6277744"/>
            <a:ext cx="6888899" cy="3898521"/>
            <a:chOff x="0" y="0"/>
            <a:chExt cx="1814360" cy="1026771"/>
          </a:xfrm>
        </p:grpSpPr>
        <p:sp>
          <p:nvSpPr>
            <p:cNvPr name="Freeform 11" id="11"/>
            <p:cNvSpPr/>
            <p:nvPr/>
          </p:nvSpPr>
          <p:spPr>
            <a:xfrm flipH="false" flipV="false" rot="0">
              <a:off x="0" y="0"/>
              <a:ext cx="1814360" cy="1026771"/>
            </a:xfrm>
            <a:custGeom>
              <a:avLst/>
              <a:gdLst/>
              <a:ahLst/>
              <a:cxnLst/>
              <a:rect r="r" b="b" t="t" l="l"/>
              <a:pathLst>
                <a:path h="1026771" w="1814360">
                  <a:moveTo>
                    <a:pt x="33715" y="0"/>
                  </a:moveTo>
                  <a:lnTo>
                    <a:pt x="1780645" y="0"/>
                  </a:lnTo>
                  <a:cubicBezTo>
                    <a:pt x="1799266" y="0"/>
                    <a:pt x="1814360" y="15095"/>
                    <a:pt x="1814360" y="33715"/>
                  </a:cubicBezTo>
                  <a:lnTo>
                    <a:pt x="1814360" y="993056"/>
                  </a:lnTo>
                  <a:cubicBezTo>
                    <a:pt x="1814360" y="1011676"/>
                    <a:pt x="1799266" y="1026771"/>
                    <a:pt x="1780645" y="1026771"/>
                  </a:cubicBezTo>
                  <a:lnTo>
                    <a:pt x="33715" y="1026771"/>
                  </a:lnTo>
                  <a:cubicBezTo>
                    <a:pt x="24773" y="1026771"/>
                    <a:pt x="16198" y="1023219"/>
                    <a:pt x="9875" y="1016896"/>
                  </a:cubicBezTo>
                  <a:cubicBezTo>
                    <a:pt x="3552" y="1010573"/>
                    <a:pt x="0" y="1001998"/>
                    <a:pt x="0" y="993056"/>
                  </a:cubicBezTo>
                  <a:lnTo>
                    <a:pt x="0" y="33715"/>
                  </a:lnTo>
                  <a:cubicBezTo>
                    <a:pt x="0" y="24773"/>
                    <a:pt x="3552" y="16198"/>
                    <a:pt x="9875" y="9875"/>
                  </a:cubicBezTo>
                  <a:cubicBezTo>
                    <a:pt x="16198" y="3552"/>
                    <a:pt x="24773" y="0"/>
                    <a:pt x="33715" y="0"/>
                  </a:cubicBezTo>
                  <a:close/>
                </a:path>
              </a:pathLst>
            </a:custGeom>
            <a:solidFill>
              <a:srgbClr val="8A756A"/>
            </a:solidFill>
          </p:spPr>
        </p:sp>
        <p:sp>
          <p:nvSpPr>
            <p:cNvPr name="TextBox 12" id="12"/>
            <p:cNvSpPr txBox="true"/>
            <p:nvPr/>
          </p:nvSpPr>
          <p:spPr>
            <a:xfrm>
              <a:off x="0" y="-28575"/>
              <a:ext cx="1814360" cy="1055346"/>
            </a:xfrm>
            <a:prstGeom prst="rect">
              <a:avLst/>
            </a:prstGeom>
          </p:spPr>
          <p:txBody>
            <a:bodyPr anchor="ctr" rtlCol="false" tIns="50800" lIns="50800" bIns="50800" rIns="50800"/>
            <a:lstStyle/>
            <a:p>
              <a:pPr algn="ctr">
                <a:lnSpc>
                  <a:spcPts val="2100"/>
                </a:lnSpc>
              </a:pPr>
            </a:p>
          </p:txBody>
        </p:sp>
      </p:grpSp>
      <p:sp>
        <p:nvSpPr>
          <p:cNvPr name="TextBox 13" id="13"/>
          <p:cNvSpPr txBox="true"/>
          <p:nvPr/>
        </p:nvSpPr>
        <p:spPr>
          <a:xfrm rot="0">
            <a:off x="11525253" y="771429"/>
            <a:ext cx="3822697" cy="409575"/>
          </a:xfrm>
          <a:prstGeom prst="rect">
            <a:avLst/>
          </a:prstGeom>
        </p:spPr>
        <p:txBody>
          <a:bodyPr anchor="t" rtlCol="false" tIns="0" lIns="0" bIns="0" rIns="0">
            <a:spAutoFit/>
          </a:bodyPr>
          <a:lstStyle/>
          <a:p>
            <a:pPr algn="l">
              <a:lnSpc>
                <a:spcPts val="3239"/>
              </a:lnSpc>
            </a:pPr>
            <a:r>
              <a:rPr lang="en-US" sz="2699" b="true">
                <a:solidFill>
                  <a:srgbClr val="FFFFFF"/>
                </a:solidFill>
                <a:latin typeface="Montserrat Bold"/>
                <a:ea typeface="Montserrat Bold"/>
                <a:cs typeface="Montserrat Bold"/>
                <a:sym typeface="Montserrat Bold"/>
              </a:rPr>
              <a:t>Insight</a:t>
            </a:r>
          </a:p>
        </p:txBody>
      </p:sp>
      <p:sp>
        <p:nvSpPr>
          <p:cNvPr name="TextBox 14" id="14"/>
          <p:cNvSpPr txBox="true"/>
          <p:nvPr/>
        </p:nvSpPr>
        <p:spPr>
          <a:xfrm rot="0">
            <a:off x="11525253" y="1381029"/>
            <a:ext cx="6350824" cy="1736725"/>
          </a:xfrm>
          <a:prstGeom prst="rect">
            <a:avLst/>
          </a:prstGeom>
        </p:spPr>
        <p:txBody>
          <a:bodyPr anchor="t" rtlCol="false" tIns="0" lIns="0" bIns="0" rIns="0">
            <a:spAutoFit/>
          </a:bodyPr>
          <a:lstStyle/>
          <a:p>
            <a:pPr algn="l">
              <a:lnSpc>
                <a:spcPts val="3499"/>
              </a:lnSpc>
            </a:pPr>
            <a:r>
              <a:rPr lang="en-US" sz="2499">
                <a:solidFill>
                  <a:srgbClr val="FFFFFF"/>
                </a:solidFill>
                <a:latin typeface="Proxima Nova"/>
                <a:ea typeface="Proxima Nova"/>
                <a:cs typeface="Proxima Nova"/>
                <a:sym typeface="Proxima Nova"/>
              </a:rPr>
              <a:t>Lot’s O’ Nuts is the clear market leader followed by Wicked Choccy’s  while Secret Factory contributes modestly</a:t>
            </a:r>
          </a:p>
          <a:p>
            <a:pPr algn="l">
              <a:lnSpc>
                <a:spcPts val="3499"/>
              </a:lnSpc>
            </a:pPr>
          </a:p>
        </p:txBody>
      </p:sp>
      <p:sp>
        <p:nvSpPr>
          <p:cNvPr name="TextBox 15" id="15"/>
          <p:cNvSpPr txBox="true"/>
          <p:nvPr/>
        </p:nvSpPr>
        <p:spPr>
          <a:xfrm rot="0">
            <a:off x="11478980" y="4027009"/>
            <a:ext cx="6350824" cy="1736725"/>
          </a:xfrm>
          <a:prstGeom prst="rect">
            <a:avLst/>
          </a:prstGeom>
        </p:spPr>
        <p:txBody>
          <a:bodyPr anchor="t" rtlCol="false" tIns="0" lIns="0" bIns="0" rIns="0">
            <a:spAutoFit/>
          </a:bodyPr>
          <a:lstStyle/>
          <a:p>
            <a:pPr algn="l">
              <a:lnSpc>
                <a:spcPts val="3499"/>
              </a:lnSpc>
            </a:pPr>
            <a:r>
              <a:rPr lang="en-US" sz="2499">
                <a:solidFill>
                  <a:srgbClr val="FFFFFF"/>
                </a:solidFill>
                <a:latin typeface="Proxima Nova"/>
                <a:ea typeface="Proxima Nova"/>
                <a:cs typeface="Proxima Nova"/>
                <a:sym typeface="Proxima Nova"/>
              </a:rPr>
              <a:t>there is a huge difference between factories probably due to the products popularity, differences in product appeal, operational efficiency, or market reach between factories.</a:t>
            </a:r>
          </a:p>
        </p:txBody>
      </p:sp>
      <p:sp>
        <p:nvSpPr>
          <p:cNvPr name="TextBox 16" id="16"/>
          <p:cNvSpPr txBox="true"/>
          <p:nvPr/>
        </p:nvSpPr>
        <p:spPr>
          <a:xfrm rot="0">
            <a:off x="11525253" y="3417409"/>
            <a:ext cx="3822697" cy="409575"/>
          </a:xfrm>
          <a:prstGeom prst="rect">
            <a:avLst/>
          </a:prstGeom>
        </p:spPr>
        <p:txBody>
          <a:bodyPr anchor="t" rtlCol="false" tIns="0" lIns="0" bIns="0" rIns="0">
            <a:spAutoFit/>
          </a:bodyPr>
          <a:lstStyle/>
          <a:p>
            <a:pPr algn="l">
              <a:lnSpc>
                <a:spcPts val="3239"/>
              </a:lnSpc>
            </a:pPr>
            <a:r>
              <a:rPr lang="en-US" sz="2699" b="true">
                <a:solidFill>
                  <a:srgbClr val="FFFFFF"/>
                </a:solidFill>
                <a:latin typeface="Montserrat Bold"/>
                <a:ea typeface="Montserrat Bold"/>
                <a:cs typeface="Montserrat Bold"/>
                <a:sym typeface="Montserrat Bold"/>
              </a:rPr>
              <a:t>Interpretation</a:t>
            </a:r>
          </a:p>
        </p:txBody>
      </p:sp>
      <p:sp>
        <p:nvSpPr>
          <p:cNvPr name="TextBox 17" id="17"/>
          <p:cNvSpPr txBox="true"/>
          <p:nvPr/>
        </p:nvSpPr>
        <p:spPr>
          <a:xfrm rot="0">
            <a:off x="11525253" y="6353944"/>
            <a:ext cx="3822697" cy="409575"/>
          </a:xfrm>
          <a:prstGeom prst="rect">
            <a:avLst/>
          </a:prstGeom>
        </p:spPr>
        <p:txBody>
          <a:bodyPr anchor="t" rtlCol="false" tIns="0" lIns="0" bIns="0" rIns="0">
            <a:spAutoFit/>
          </a:bodyPr>
          <a:lstStyle/>
          <a:p>
            <a:pPr algn="l">
              <a:lnSpc>
                <a:spcPts val="3239"/>
              </a:lnSpc>
            </a:pPr>
            <a:r>
              <a:rPr lang="en-US" sz="2699" b="true">
                <a:solidFill>
                  <a:srgbClr val="FFFFFF"/>
                </a:solidFill>
                <a:latin typeface="Montserrat Bold"/>
                <a:ea typeface="Montserrat Bold"/>
                <a:cs typeface="Montserrat Bold"/>
                <a:sym typeface="Montserrat Bold"/>
              </a:rPr>
              <a:t>Business Impact</a:t>
            </a:r>
          </a:p>
        </p:txBody>
      </p:sp>
      <p:sp>
        <p:nvSpPr>
          <p:cNvPr name="TextBox 18" id="18"/>
          <p:cNvSpPr txBox="true"/>
          <p:nvPr/>
        </p:nvSpPr>
        <p:spPr>
          <a:xfrm rot="0">
            <a:off x="11209943" y="6837297"/>
            <a:ext cx="6666134" cy="3051175"/>
          </a:xfrm>
          <a:prstGeom prst="rect">
            <a:avLst/>
          </a:prstGeom>
        </p:spPr>
        <p:txBody>
          <a:bodyPr anchor="t" rtlCol="false" tIns="0" lIns="0" bIns="0" rIns="0">
            <a:spAutoFit/>
          </a:bodyPr>
          <a:lstStyle/>
          <a:p>
            <a:pPr algn="l" marL="539748" indent="-269874" lvl="1">
              <a:lnSpc>
                <a:spcPts val="3499"/>
              </a:lnSpc>
              <a:buFont typeface="Arial"/>
              <a:buChar char="•"/>
            </a:pPr>
            <a:r>
              <a:rPr lang="en-US" sz="2499">
                <a:solidFill>
                  <a:srgbClr val="FFFFFF"/>
                </a:solidFill>
                <a:latin typeface="Proxima Nova"/>
                <a:ea typeface="Proxima Nova"/>
                <a:cs typeface="Proxima Nova"/>
                <a:sym typeface="Proxima Nova"/>
              </a:rPr>
              <a:t>Risk concentration due to heavy dependence on two factories. </a:t>
            </a:r>
          </a:p>
          <a:p>
            <a:pPr algn="l" marL="539748" indent="-269874" lvl="1">
              <a:lnSpc>
                <a:spcPts val="3499"/>
              </a:lnSpc>
              <a:buFont typeface="Arial"/>
              <a:buChar char="•"/>
            </a:pPr>
            <a:r>
              <a:rPr lang="en-US" sz="2499">
                <a:solidFill>
                  <a:srgbClr val="FFFFFF"/>
                </a:solidFill>
                <a:latin typeface="Proxima Nova"/>
                <a:ea typeface="Proxima Nova"/>
                <a:cs typeface="Proxima Nova"/>
                <a:sym typeface="Proxima Nova"/>
              </a:rPr>
              <a:t>D</a:t>
            </a:r>
            <a:r>
              <a:rPr lang="en-US" sz="2499">
                <a:solidFill>
                  <a:srgbClr val="FFFFFF"/>
                </a:solidFill>
                <a:latin typeface="Proxima Nova"/>
                <a:ea typeface="Proxima Nova"/>
                <a:cs typeface="Proxima Nova"/>
                <a:sym typeface="Proxima Nova"/>
              </a:rPr>
              <a:t>iversify income streams and reduce vulnerability to operational or market disruptions.</a:t>
            </a:r>
          </a:p>
          <a:p>
            <a:pPr algn="l" marL="539748" indent="-269874" lvl="1">
              <a:lnSpc>
                <a:spcPts val="3499"/>
              </a:lnSpc>
              <a:buFont typeface="Arial"/>
              <a:buChar char="•"/>
            </a:pPr>
            <a:r>
              <a:rPr lang="en-US" sz="2499">
                <a:solidFill>
                  <a:srgbClr val="FFFFFF"/>
                </a:solidFill>
                <a:latin typeface="Proxima Nova"/>
                <a:ea typeface="Proxima Nova"/>
                <a:cs typeface="Proxima Nova"/>
                <a:sym typeface="Proxima Nova"/>
              </a:rPr>
              <a:t>Strategic focus: invest in improvig underperforming factories, or remove them.</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95275" y="1768181"/>
            <a:ext cx="10627949" cy="7863584"/>
          </a:xfrm>
          <a:custGeom>
            <a:avLst/>
            <a:gdLst/>
            <a:ahLst/>
            <a:cxnLst/>
            <a:rect r="r" b="b" t="t" l="l"/>
            <a:pathLst>
              <a:path h="7863584" w="10627949">
                <a:moveTo>
                  <a:pt x="0" y="0"/>
                </a:moveTo>
                <a:lnTo>
                  <a:pt x="10627949" y="0"/>
                </a:lnTo>
                <a:lnTo>
                  <a:pt x="10627949" y="7863584"/>
                </a:lnTo>
                <a:lnTo>
                  <a:pt x="0" y="7863584"/>
                </a:lnTo>
                <a:lnTo>
                  <a:pt x="0" y="0"/>
                </a:lnTo>
                <a:close/>
              </a:path>
            </a:pathLst>
          </a:custGeom>
          <a:blipFill>
            <a:blip r:embed="rId3"/>
            <a:stretch>
              <a:fillRect l="0" t="-728" r="-513" b="-728"/>
            </a:stretch>
          </a:blipFill>
          <a:ln w="28575" cap="sq">
            <a:solidFill>
              <a:srgbClr val="8A756A"/>
            </a:solidFill>
            <a:prstDash val="solid"/>
            <a:miter/>
          </a:ln>
        </p:spPr>
      </p:sp>
      <p:sp>
        <p:nvSpPr>
          <p:cNvPr name="TextBox 3" id="3"/>
          <p:cNvSpPr txBox="true"/>
          <p:nvPr/>
        </p:nvSpPr>
        <p:spPr>
          <a:xfrm rot="0">
            <a:off x="552450" y="302405"/>
            <a:ext cx="13244700" cy="571500"/>
          </a:xfrm>
          <a:prstGeom prst="rect">
            <a:avLst/>
          </a:prstGeom>
        </p:spPr>
        <p:txBody>
          <a:bodyPr anchor="t" rtlCol="false" tIns="0" lIns="0" bIns="0" rIns="0">
            <a:spAutoFit/>
          </a:bodyPr>
          <a:lstStyle/>
          <a:p>
            <a:pPr algn="l">
              <a:lnSpc>
                <a:spcPts val="4560"/>
              </a:lnSpc>
            </a:pPr>
            <a:r>
              <a:rPr lang="en-US" sz="3800" b="true">
                <a:solidFill>
                  <a:srgbClr val="000000"/>
                </a:solidFill>
                <a:latin typeface="Montserrat Bold"/>
                <a:ea typeface="Montserrat Bold"/>
                <a:cs typeface="Montserrat Bold"/>
                <a:sym typeface="Montserrat Bold"/>
              </a:rPr>
              <a:t>Total Gross Profit &amp; Share of Total Profit by product</a:t>
            </a:r>
          </a:p>
        </p:txBody>
      </p:sp>
      <p:grpSp>
        <p:nvGrpSpPr>
          <p:cNvPr name="Group 4" id="4"/>
          <p:cNvGrpSpPr/>
          <p:nvPr/>
        </p:nvGrpSpPr>
        <p:grpSpPr>
          <a:xfrm rot="0">
            <a:off x="11199965" y="1162950"/>
            <a:ext cx="6803559" cy="2305437"/>
            <a:chOff x="0" y="0"/>
            <a:chExt cx="1791884" cy="607193"/>
          </a:xfrm>
        </p:grpSpPr>
        <p:sp>
          <p:nvSpPr>
            <p:cNvPr name="Freeform 5" id="5"/>
            <p:cNvSpPr/>
            <p:nvPr/>
          </p:nvSpPr>
          <p:spPr>
            <a:xfrm flipH="false" flipV="false" rot="0">
              <a:off x="0" y="0"/>
              <a:ext cx="1791884" cy="607193"/>
            </a:xfrm>
            <a:custGeom>
              <a:avLst/>
              <a:gdLst/>
              <a:ahLst/>
              <a:cxnLst/>
              <a:rect r="r" b="b" t="t" l="l"/>
              <a:pathLst>
                <a:path h="607193" w="1791884">
                  <a:moveTo>
                    <a:pt x="34138" y="0"/>
                  </a:moveTo>
                  <a:lnTo>
                    <a:pt x="1757746" y="0"/>
                  </a:lnTo>
                  <a:cubicBezTo>
                    <a:pt x="1776600" y="0"/>
                    <a:pt x="1791884" y="15284"/>
                    <a:pt x="1791884" y="34138"/>
                  </a:cubicBezTo>
                  <a:lnTo>
                    <a:pt x="1791884" y="573056"/>
                  </a:lnTo>
                  <a:cubicBezTo>
                    <a:pt x="1791884" y="591909"/>
                    <a:pt x="1776600" y="607193"/>
                    <a:pt x="1757746" y="607193"/>
                  </a:cubicBezTo>
                  <a:lnTo>
                    <a:pt x="34138" y="607193"/>
                  </a:lnTo>
                  <a:cubicBezTo>
                    <a:pt x="15284" y="607193"/>
                    <a:pt x="0" y="591909"/>
                    <a:pt x="0" y="573056"/>
                  </a:cubicBezTo>
                  <a:lnTo>
                    <a:pt x="0" y="34138"/>
                  </a:lnTo>
                  <a:cubicBezTo>
                    <a:pt x="0" y="15284"/>
                    <a:pt x="15284" y="0"/>
                    <a:pt x="34138" y="0"/>
                  </a:cubicBezTo>
                  <a:close/>
                </a:path>
              </a:pathLst>
            </a:custGeom>
            <a:solidFill>
              <a:srgbClr val="412A1D"/>
            </a:solidFill>
          </p:spPr>
        </p:sp>
        <p:sp>
          <p:nvSpPr>
            <p:cNvPr name="TextBox 6" id="6"/>
            <p:cNvSpPr txBox="true"/>
            <p:nvPr/>
          </p:nvSpPr>
          <p:spPr>
            <a:xfrm>
              <a:off x="0" y="-28575"/>
              <a:ext cx="1791884" cy="635768"/>
            </a:xfrm>
            <a:prstGeom prst="rect">
              <a:avLst/>
            </a:prstGeom>
          </p:spPr>
          <p:txBody>
            <a:bodyPr anchor="ctr" rtlCol="false" tIns="50800" lIns="50800" bIns="50800" rIns="50800"/>
            <a:lstStyle/>
            <a:p>
              <a:pPr algn="ctr">
                <a:lnSpc>
                  <a:spcPts val="2100"/>
                </a:lnSpc>
              </a:pPr>
            </a:p>
          </p:txBody>
        </p:sp>
      </p:grpSp>
      <p:sp>
        <p:nvSpPr>
          <p:cNvPr name="TextBox 7" id="7"/>
          <p:cNvSpPr txBox="true"/>
          <p:nvPr/>
        </p:nvSpPr>
        <p:spPr>
          <a:xfrm rot="0">
            <a:off x="11538394" y="1263356"/>
            <a:ext cx="3822697" cy="409575"/>
          </a:xfrm>
          <a:prstGeom prst="rect">
            <a:avLst/>
          </a:prstGeom>
        </p:spPr>
        <p:txBody>
          <a:bodyPr anchor="t" rtlCol="false" tIns="0" lIns="0" bIns="0" rIns="0">
            <a:spAutoFit/>
          </a:bodyPr>
          <a:lstStyle/>
          <a:p>
            <a:pPr algn="l">
              <a:lnSpc>
                <a:spcPts val="3239"/>
              </a:lnSpc>
            </a:pPr>
            <a:r>
              <a:rPr lang="en-US" sz="2699" b="true">
                <a:solidFill>
                  <a:srgbClr val="FFFFFF"/>
                </a:solidFill>
                <a:latin typeface="Montserrat Bold"/>
                <a:ea typeface="Montserrat Bold"/>
                <a:cs typeface="Montserrat Bold"/>
                <a:sym typeface="Montserrat Bold"/>
              </a:rPr>
              <a:t>Insight</a:t>
            </a:r>
          </a:p>
        </p:txBody>
      </p:sp>
      <p:sp>
        <p:nvSpPr>
          <p:cNvPr name="TextBox 8" id="8"/>
          <p:cNvSpPr txBox="true"/>
          <p:nvPr/>
        </p:nvSpPr>
        <p:spPr>
          <a:xfrm rot="0">
            <a:off x="11469002" y="1746648"/>
            <a:ext cx="6350824" cy="1544320"/>
          </a:xfrm>
          <a:prstGeom prst="rect">
            <a:avLst/>
          </a:prstGeom>
        </p:spPr>
        <p:txBody>
          <a:bodyPr anchor="t" rtlCol="false" tIns="0" lIns="0" bIns="0" rIns="0">
            <a:spAutoFit/>
          </a:bodyPr>
          <a:lstStyle/>
          <a:p>
            <a:pPr algn="l">
              <a:lnSpc>
                <a:spcPts val="3079"/>
              </a:lnSpc>
            </a:pPr>
            <a:r>
              <a:rPr lang="en-US" sz="2199">
                <a:solidFill>
                  <a:srgbClr val="FFFFFF"/>
                </a:solidFill>
                <a:latin typeface="Proxima Nova"/>
                <a:ea typeface="Proxima Nova"/>
                <a:cs typeface="Proxima Nova"/>
                <a:sym typeface="Proxima Nova"/>
              </a:rPr>
              <a:t> The Wonka Bar product line dominates profitability.</a:t>
            </a:r>
          </a:p>
          <a:p>
            <a:pPr algn="l">
              <a:lnSpc>
                <a:spcPts val="3079"/>
              </a:lnSpc>
            </a:pPr>
            <a:r>
              <a:rPr lang="en-US" sz="2199">
                <a:solidFill>
                  <a:srgbClr val="FFFFFF"/>
                </a:solidFill>
                <a:latin typeface="Proxima Nova"/>
                <a:ea typeface="Proxima Nova"/>
                <a:cs typeface="Proxima Nova"/>
                <a:sym typeface="Proxima Nova"/>
              </a:rPr>
              <a:t> Five Wonka Bar variants each generate 17–21% of total gross profit, far outperforming all other products.</a:t>
            </a:r>
          </a:p>
        </p:txBody>
      </p:sp>
      <p:grpSp>
        <p:nvGrpSpPr>
          <p:cNvPr name="Group 9" id="9"/>
          <p:cNvGrpSpPr/>
          <p:nvPr/>
        </p:nvGrpSpPr>
        <p:grpSpPr>
          <a:xfrm rot="0">
            <a:off x="11291814" y="3611262"/>
            <a:ext cx="6619861" cy="3065590"/>
            <a:chOff x="0" y="0"/>
            <a:chExt cx="1743503" cy="807398"/>
          </a:xfrm>
        </p:grpSpPr>
        <p:sp>
          <p:nvSpPr>
            <p:cNvPr name="Freeform 10" id="10"/>
            <p:cNvSpPr/>
            <p:nvPr/>
          </p:nvSpPr>
          <p:spPr>
            <a:xfrm flipH="false" flipV="false" rot="0">
              <a:off x="0" y="0"/>
              <a:ext cx="1743502" cy="807398"/>
            </a:xfrm>
            <a:custGeom>
              <a:avLst/>
              <a:gdLst/>
              <a:ahLst/>
              <a:cxnLst/>
              <a:rect r="r" b="b" t="t" l="l"/>
              <a:pathLst>
                <a:path h="807398" w="1743502">
                  <a:moveTo>
                    <a:pt x="35085" y="0"/>
                  </a:moveTo>
                  <a:lnTo>
                    <a:pt x="1708418" y="0"/>
                  </a:lnTo>
                  <a:cubicBezTo>
                    <a:pt x="1717723" y="0"/>
                    <a:pt x="1726647" y="3696"/>
                    <a:pt x="1733226" y="10276"/>
                  </a:cubicBezTo>
                  <a:cubicBezTo>
                    <a:pt x="1739806" y="16856"/>
                    <a:pt x="1743502" y="25780"/>
                    <a:pt x="1743502" y="35085"/>
                  </a:cubicBezTo>
                  <a:lnTo>
                    <a:pt x="1743502" y="772313"/>
                  </a:lnTo>
                  <a:cubicBezTo>
                    <a:pt x="1743502" y="781618"/>
                    <a:pt x="1739806" y="790542"/>
                    <a:pt x="1733226" y="797122"/>
                  </a:cubicBezTo>
                  <a:cubicBezTo>
                    <a:pt x="1726647" y="803702"/>
                    <a:pt x="1717723" y="807398"/>
                    <a:pt x="1708418" y="807398"/>
                  </a:cubicBezTo>
                  <a:lnTo>
                    <a:pt x="35085" y="807398"/>
                  </a:lnTo>
                  <a:cubicBezTo>
                    <a:pt x="25780" y="807398"/>
                    <a:pt x="16856" y="803702"/>
                    <a:pt x="10276" y="797122"/>
                  </a:cubicBezTo>
                  <a:cubicBezTo>
                    <a:pt x="3696" y="790542"/>
                    <a:pt x="0" y="781618"/>
                    <a:pt x="0" y="772313"/>
                  </a:cubicBezTo>
                  <a:lnTo>
                    <a:pt x="0" y="35085"/>
                  </a:lnTo>
                  <a:cubicBezTo>
                    <a:pt x="0" y="25780"/>
                    <a:pt x="3696" y="16856"/>
                    <a:pt x="10276" y="10276"/>
                  </a:cubicBezTo>
                  <a:cubicBezTo>
                    <a:pt x="16856" y="3696"/>
                    <a:pt x="25780" y="0"/>
                    <a:pt x="35085" y="0"/>
                  </a:cubicBezTo>
                  <a:close/>
                </a:path>
              </a:pathLst>
            </a:custGeom>
            <a:solidFill>
              <a:srgbClr val="675145"/>
            </a:solidFill>
          </p:spPr>
        </p:sp>
        <p:sp>
          <p:nvSpPr>
            <p:cNvPr name="TextBox 11" id="11"/>
            <p:cNvSpPr txBox="true"/>
            <p:nvPr/>
          </p:nvSpPr>
          <p:spPr>
            <a:xfrm>
              <a:off x="0" y="-28575"/>
              <a:ext cx="1743503" cy="835973"/>
            </a:xfrm>
            <a:prstGeom prst="rect">
              <a:avLst/>
            </a:prstGeom>
          </p:spPr>
          <p:txBody>
            <a:bodyPr anchor="ctr" rtlCol="false" tIns="50800" lIns="50800" bIns="50800" rIns="50800"/>
            <a:lstStyle/>
            <a:p>
              <a:pPr algn="ctr">
                <a:lnSpc>
                  <a:spcPts val="2100"/>
                </a:lnSpc>
              </a:pPr>
            </a:p>
          </p:txBody>
        </p:sp>
      </p:grpSp>
      <p:sp>
        <p:nvSpPr>
          <p:cNvPr name="TextBox 12" id="12"/>
          <p:cNvSpPr txBox="true"/>
          <p:nvPr/>
        </p:nvSpPr>
        <p:spPr>
          <a:xfrm rot="0">
            <a:off x="11578549" y="3731429"/>
            <a:ext cx="3822697" cy="409575"/>
          </a:xfrm>
          <a:prstGeom prst="rect">
            <a:avLst/>
          </a:prstGeom>
        </p:spPr>
        <p:txBody>
          <a:bodyPr anchor="t" rtlCol="false" tIns="0" lIns="0" bIns="0" rIns="0">
            <a:spAutoFit/>
          </a:bodyPr>
          <a:lstStyle/>
          <a:p>
            <a:pPr algn="l">
              <a:lnSpc>
                <a:spcPts val="3239"/>
              </a:lnSpc>
            </a:pPr>
            <a:r>
              <a:rPr lang="en-US" sz="2699" b="true">
                <a:solidFill>
                  <a:srgbClr val="FFFFFF"/>
                </a:solidFill>
                <a:latin typeface="Montserrat Bold"/>
                <a:ea typeface="Montserrat Bold"/>
                <a:cs typeface="Montserrat Bold"/>
                <a:sym typeface="Montserrat Bold"/>
              </a:rPr>
              <a:t>Interpretation</a:t>
            </a:r>
          </a:p>
        </p:txBody>
      </p:sp>
      <p:sp>
        <p:nvSpPr>
          <p:cNvPr name="TextBox 13" id="13"/>
          <p:cNvSpPr txBox="true"/>
          <p:nvPr/>
        </p:nvSpPr>
        <p:spPr>
          <a:xfrm rot="0">
            <a:off x="11484651" y="4255304"/>
            <a:ext cx="6350824" cy="2213610"/>
          </a:xfrm>
          <a:prstGeom prst="rect">
            <a:avLst/>
          </a:prstGeom>
        </p:spPr>
        <p:txBody>
          <a:bodyPr anchor="t" rtlCol="false" tIns="0" lIns="0" bIns="0" rIns="0">
            <a:spAutoFit/>
          </a:bodyPr>
          <a:lstStyle/>
          <a:p>
            <a:pPr algn="l">
              <a:lnSpc>
                <a:spcPts val="2940"/>
              </a:lnSpc>
            </a:pPr>
            <a:r>
              <a:rPr lang="en-US" sz="2100">
                <a:solidFill>
                  <a:srgbClr val="FFFFFF"/>
                </a:solidFill>
                <a:latin typeface="Proxima Nova"/>
                <a:ea typeface="Proxima Nova"/>
                <a:cs typeface="Proxima Nova"/>
                <a:sym typeface="Proxima Nova"/>
              </a:rPr>
              <a:t> These products combine high demand and high revenue contribution, making them the core profit engine of the business.</a:t>
            </a:r>
          </a:p>
          <a:p>
            <a:pPr algn="l">
              <a:lnSpc>
                <a:spcPts val="2940"/>
              </a:lnSpc>
            </a:pPr>
            <a:r>
              <a:rPr lang="en-US" sz="2100">
                <a:solidFill>
                  <a:srgbClr val="FFFFFF"/>
                </a:solidFill>
                <a:latin typeface="Proxima Nova"/>
                <a:ea typeface="Proxima Nova"/>
                <a:cs typeface="Proxima Nova"/>
                <a:sym typeface="Proxima Nova"/>
              </a:rPr>
              <a:t> Non–Wonka Bar products contribute less than 5% each, indicating low sales volume despite sometimes acceptable margins.</a:t>
            </a:r>
          </a:p>
        </p:txBody>
      </p:sp>
      <p:grpSp>
        <p:nvGrpSpPr>
          <p:cNvPr name="Group 14" id="14"/>
          <p:cNvGrpSpPr/>
          <p:nvPr/>
        </p:nvGrpSpPr>
        <p:grpSpPr>
          <a:xfrm rot="0">
            <a:off x="11282289" y="6838777"/>
            <a:ext cx="6619861" cy="3144318"/>
            <a:chOff x="0" y="0"/>
            <a:chExt cx="1743503" cy="828133"/>
          </a:xfrm>
        </p:grpSpPr>
        <p:sp>
          <p:nvSpPr>
            <p:cNvPr name="Freeform 15" id="15"/>
            <p:cNvSpPr/>
            <p:nvPr/>
          </p:nvSpPr>
          <p:spPr>
            <a:xfrm flipH="false" flipV="false" rot="0">
              <a:off x="0" y="0"/>
              <a:ext cx="1743502" cy="828133"/>
            </a:xfrm>
            <a:custGeom>
              <a:avLst/>
              <a:gdLst/>
              <a:ahLst/>
              <a:cxnLst/>
              <a:rect r="r" b="b" t="t" l="l"/>
              <a:pathLst>
                <a:path h="828133" w="1743502">
                  <a:moveTo>
                    <a:pt x="35085" y="0"/>
                  </a:moveTo>
                  <a:lnTo>
                    <a:pt x="1708418" y="0"/>
                  </a:lnTo>
                  <a:cubicBezTo>
                    <a:pt x="1717723" y="0"/>
                    <a:pt x="1726647" y="3696"/>
                    <a:pt x="1733226" y="10276"/>
                  </a:cubicBezTo>
                  <a:cubicBezTo>
                    <a:pt x="1739806" y="16856"/>
                    <a:pt x="1743502" y="25780"/>
                    <a:pt x="1743502" y="35085"/>
                  </a:cubicBezTo>
                  <a:lnTo>
                    <a:pt x="1743502" y="793048"/>
                  </a:lnTo>
                  <a:cubicBezTo>
                    <a:pt x="1743502" y="802353"/>
                    <a:pt x="1739806" y="811277"/>
                    <a:pt x="1733226" y="817857"/>
                  </a:cubicBezTo>
                  <a:cubicBezTo>
                    <a:pt x="1726647" y="824437"/>
                    <a:pt x="1717723" y="828133"/>
                    <a:pt x="1708418" y="828133"/>
                  </a:cubicBezTo>
                  <a:lnTo>
                    <a:pt x="35085" y="828133"/>
                  </a:lnTo>
                  <a:cubicBezTo>
                    <a:pt x="25780" y="828133"/>
                    <a:pt x="16856" y="824437"/>
                    <a:pt x="10276" y="817857"/>
                  </a:cubicBezTo>
                  <a:cubicBezTo>
                    <a:pt x="3696" y="811277"/>
                    <a:pt x="0" y="802353"/>
                    <a:pt x="0" y="793048"/>
                  </a:cubicBezTo>
                  <a:lnTo>
                    <a:pt x="0" y="35085"/>
                  </a:lnTo>
                  <a:cubicBezTo>
                    <a:pt x="0" y="25780"/>
                    <a:pt x="3696" y="16856"/>
                    <a:pt x="10276" y="10276"/>
                  </a:cubicBezTo>
                  <a:cubicBezTo>
                    <a:pt x="16856" y="3696"/>
                    <a:pt x="25780" y="0"/>
                    <a:pt x="35085" y="0"/>
                  </a:cubicBezTo>
                  <a:close/>
                </a:path>
              </a:pathLst>
            </a:custGeom>
            <a:solidFill>
              <a:srgbClr val="8A756A"/>
            </a:solidFill>
          </p:spPr>
        </p:sp>
        <p:sp>
          <p:nvSpPr>
            <p:cNvPr name="TextBox 16" id="16"/>
            <p:cNvSpPr txBox="true"/>
            <p:nvPr/>
          </p:nvSpPr>
          <p:spPr>
            <a:xfrm>
              <a:off x="0" y="-28575"/>
              <a:ext cx="1743503" cy="856708"/>
            </a:xfrm>
            <a:prstGeom prst="rect">
              <a:avLst/>
            </a:prstGeom>
          </p:spPr>
          <p:txBody>
            <a:bodyPr anchor="ctr" rtlCol="false" tIns="50800" lIns="50800" bIns="50800" rIns="50800"/>
            <a:lstStyle/>
            <a:p>
              <a:pPr algn="ctr">
                <a:lnSpc>
                  <a:spcPts val="2100"/>
                </a:lnSpc>
              </a:pPr>
            </a:p>
          </p:txBody>
        </p:sp>
      </p:grpSp>
      <p:sp>
        <p:nvSpPr>
          <p:cNvPr name="TextBox 17" id="17"/>
          <p:cNvSpPr txBox="true"/>
          <p:nvPr/>
        </p:nvSpPr>
        <p:spPr>
          <a:xfrm rot="0">
            <a:off x="11569024" y="6953077"/>
            <a:ext cx="3822697" cy="409575"/>
          </a:xfrm>
          <a:prstGeom prst="rect">
            <a:avLst/>
          </a:prstGeom>
        </p:spPr>
        <p:txBody>
          <a:bodyPr anchor="t" rtlCol="false" tIns="0" lIns="0" bIns="0" rIns="0">
            <a:spAutoFit/>
          </a:bodyPr>
          <a:lstStyle/>
          <a:p>
            <a:pPr algn="l">
              <a:lnSpc>
                <a:spcPts val="3239"/>
              </a:lnSpc>
            </a:pPr>
            <a:r>
              <a:rPr lang="en-US" sz="2699" b="true">
                <a:solidFill>
                  <a:srgbClr val="FFFFFF"/>
                </a:solidFill>
                <a:latin typeface="Montserrat Bold"/>
                <a:ea typeface="Montserrat Bold"/>
                <a:cs typeface="Montserrat Bold"/>
                <a:sym typeface="Montserrat Bold"/>
              </a:rPr>
              <a:t>Bu</a:t>
            </a:r>
            <a:r>
              <a:rPr lang="en-US" sz="2699" b="true">
                <a:solidFill>
                  <a:srgbClr val="FFFFFF"/>
                </a:solidFill>
                <a:latin typeface="Montserrat Bold"/>
                <a:ea typeface="Montserrat Bold"/>
                <a:cs typeface="Montserrat Bold"/>
                <a:sym typeface="Montserrat Bold"/>
              </a:rPr>
              <a:t>siness Impact</a:t>
            </a:r>
          </a:p>
        </p:txBody>
      </p:sp>
      <p:sp>
        <p:nvSpPr>
          <p:cNvPr name="TextBox 18" id="18"/>
          <p:cNvSpPr txBox="true"/>
          <p:nvPr/>
        </p:nvSpPr>
        <p:spPr>
          <a:xfrm rot="0">
            <a:off x="11475126" y="7482819"/>
            <a:ext cx="6350824" cy="2325370"/>
          </a:xfrm>
          <a:prstGeom prst="rect">
            <a:avLst/>
          </a:prstGeom>
        </p:spPr>
        <p:txBody>
          <a:bodyPr anchor="t" rtlCol="false" tIns="0" lIns="0" bIns="0" rIns="0">
            <a:spAutoFit/>
          </a:bodyPr>
          <a:lstStyle/>
          <a:p>
            <a:pPr algn="l">
              <a:lnSpc>
                <a:spcPts val="3079"/>
              </a:lnSpc>
            </a:pPr>
            <a:r>
              <a:rPr lang="en-US" sz="2199">
                <a:solidFill>
                  <a:srgbClr val="FFFFFF"/>
                </a:solidFill>
                <a:latin typeface="Proxima Nova"/>
                <a:ea typeface="Proxima Nova"/>
                <a:cs typeface="Proxima Nova"/>
                <a:sym typeface="Proxima Nova"/>
              </a:rPr>
              <a:t>  Allocate more production and marketing to top-performing Wonka Bars to maximise returns.</a:t>
            </a:r>
          </a:p>
          <a:p>
            <a:pPr algn="l">
              <a:lnSpc>
                <a:spcPts val="3079"/>
              </a:lnSpc>
            </a:pPr>
            <a:r>
              <a:rPr lang="en-US" sz="2199">
                <a:solidFill>
                  <a:srgbClr val="FFFFFF"/>
                </a:solidFill>
                <a:latin typeface="Proxima Nova"/>
                <a:ea typeface="Proxima Nova"/>
                <a:cs typeface="Proxima Nova"/>
                <a:sym typeface="Proxima Nova"/>
              </a:rPr>
              <a:t> Reevaluate the portfolio of low-contribution products as some may require price adjustments, repositioning, or discontinuation due to minimal financial impact.</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32717" y="1431417"/>
            <a:ext cx="10455940" cy="7826883"/>
          </a:xfrm>
          <a:custGeom>
            <a:avLst/>
            <a:gdLst/>
            <a:ahLst/>
            <a:cxnLst/>
            <a:rect r="r" b="b" t="t" l="l"/>
            <a:pathLst>
              <a:path h="7826883" w="10455940">
                <a:moveTo>
                  <a:pt x="0" y="0"/>
                </a:moveTo>
                <a:lnTo>
                  <a:pt x="10455940" y="0"/>
                </a:lnTo>
                <a:lnTo>
                  <a:pt x="10455940" y="7826883"/>
                </a:lnTo>
                <a:lnTo>
                  <a:pt x="0" y="7826883"/>
                </a:lnTo>
                <a:lnTo>
                  <a:pt x="0" y="0"/>
                </a:lnTo>
                <a:close/>
              </a:path>
            </a:pathLst>
          </a:custGeom>
          <a:blipFill>
            <a:blip r:embed="rId3"/>
            <a:stretch>
              <a:fillRect l="0" t="0" r="-230" b="0"/>
            </a:stretch>
          </a:blipFill>
          <a:ln w="38100" cap="sq">
            <a:solidFill>
              <a:srgbClr val="8A756A"/>
            </a:solidFill>
            <a:prstDash val="solid"/>
            <a:miter/>
          </a:ln>
        </p:spPr>
      </p:sp>
      <p:sp>
        <p:nvSpPr>
          <p:cNvPr name="TextBox 3" id="3"/>
          <p:cNvSpPr txBox="true"/>
          <p:nvPr/>
        </p:nvSpPr>
        <p:spPr>
          <a:xfrm rot="0">
            <a:off x="447017" y="457200"/>
            <a:ext cx="8664057" cy="571500"/>
          </a:xfrm>
          <a:prstGeom prst="rect">
            <a:avLst/>
          </a:prstGeom>
        </p:spPr>
        <p:txBody>
          <a:bodyPr anchor="t" rtlCol="false" tIns="0" lIns="0" bIns="0" rIns="0">
            <a:spAutoFit/>
          </a:bodyPr>
          <a:lstStyle/>
          <a:p>
            <a:pPr algn="l">
              <a:lnSpc>
                <a:spcPts val="4560"/>
              </a:lnSpc>
            </a:pPr>
            <a:r>
              <a:rPr lang="en-US" sz="3800" b="true">
                <a:solidFill>
                  <a:srgbClr val="000000"/>
                </a:solidFill>
                <a:latin typeface="Montserrat Bold"/>
                <a:ea typeface="Montserrat Bold"/>
                <a:cs typeface="Montserrat Bold"/>
                <a:sym typeface="Montserrat Bold"/>
              </a:rPr>
              <a:t>Profit Margin by Product</a:t>
            </a:r>
          </a:p>
        </p:txBody>
      </p:sp>
      <p:grpSp>
        <p:nvGrpSpPr>
          <p:cNvPr name="Group 4" id="4"/>
          <p:cNvGrpSpPr/>
          <p:nvPr/>
        </p:nvGrpSpPr>
        <p:grpSpPr>
          <a:xfrm rot="0">
            <a:off x="11099917" y="457200"/>
            <a:ext cx="6928560" cy="3024673"/>
            <a:chOff x="0" y="0"/>
            <a:chExt cx="1824806" cy="796622"/>
          </a:xfrm>
        </p:grpSpPr>
        <p:sp>
          <p:nvSpPr>
            <p:cNvPr name="Freeform 5" id="5"/>
            <p:cNvSpPr/>
            <p:nvPr/>
          </p:nvSpPr>
          <p:spPr>
            <a:xfrm flipH="false" flipV="false" rot="0">
              <a:off x="0" y="0"/>
              <a:ext cx="1824806" cy="796622"/>
            </a:xfrm>
            <a:custGeom>
              <a:avLst/>
              <a:gdLst/>
              <a:ahLst/>
              <a:cxnLst/>
              <a:rect r="r" b="b" t="t" l="l"/>
              <a:pathLst>
                <a:path h="796622" w="1824806">
                  <a:moveTo>
                    <a:pt x="33522" y="0"/>
                  </a:moveTo>
                  <a:lnTo>
                    <a:pt x="1791284" y="0"/>
                  </a:lnTo>
                  <a:cubicBezTo>
                    <a:pt x="1809798" y="0"/>
                    <a:pt x="1824806" y="15008"/>
                    <a:pt x="1824806" y="33522"/>
                  </a:cubicBezTo>
                  <a:lnTo>
                    <a:pt x="1824806" y="763100"/>
                  </a:lnTo>
                  <a:cubicBezTo>
                    <a:pt x="1824806" y="781614"/>
                    <a:pt x="1809798" y="796622"/>
                    <a:pt x="1791284" y="796622"/>
                  </a:cubicBezTo>
                  <a:lnTo>
                    <a:pt x="33522" y="796622"/>
                  </a:lnTo>
                  <a:cubicBezTo>
                    <a:pt x="15008" y="796622"/>
                    <a:pt x="0" y="781614"/>
                    <a:pt x="0" y="763100"/>
                  </a:cubicBezTo>
                  <a:lnTo>
                    <a:pt x="0" y="33522"/>
                  </a:lnTo>
                  <a:cubicBezTo>
                    <a:pt x="0" y="15008"/>
                    <a:pt x="15008" y="0"/>
                    <a:pt x="33522" y="0"/>
                  </a:cubicBezTo>
                  <a:close/>
                </a:path>
              </a:pathLst>
            </a:custGeom>
            <a:solidFill>
              <a:srgbClr val="412A1D"/>
            </a:solidFill>
          </p:spPr>
        </p:sp>
        <p:sp>
          <p:nvSpPr>
            <p:cNvPr name="TextBox 6" id="6"/>
            <p:cNvSpPr txBox="true"/>
            <p:nvPr/>
          </p:nvSpPr>
          <p:spPr>
            <a:xfrm>
              <a:off x="0" y="-28575"/>
              <a:ext cx="1824806" cy="825197"/>
            </a:xfrm>
            <a:prstGeom prst="rect">
              <a:avLst/>
            </a:prstGeom>
          </p:spPr>
          <p:txBody>
            <a:bodyPr anchor="ctr" rtlCol="false" tIns="50800" lIns="50800" bIns="50800" rIns="50800"/>
            <a:lstStyle/>
            <a:p>
              <a:pPr algn="ctr">
                <a:lnSpc>
                  <a:spcPts val="2100"/>
                </a:lnSpc>
              </a:pPr>
            </a:p>
          </p:txBody>
        </p:sp>
      </p:grpSp>
      <p:sp>
        <p:nvSpPr>
          <p:cNvPr name="TextBox 7" id="7"/>
          <p:cNvSpPr txBox="true"/>
          <p:nvPr/>
        </p:nvSpPr>
        <p:spPr>
          <a:xfrm rot="0">
            <a:off x="11519998" y="600075"/>
            <a:ext cx="3822697" cy="409575"/>
          </a:xfrm>
          <a:prstGeom prst="rect">
            <a:avLst/>
          </a:prstGeom>
        </p:spPr>
        <p:txBody>
          <a:bodyPr anchor="t" rtlCol="false" tIns="0" lIns="0" bIns="0" rIns="0">
            <a:spAutoFit/>
          </a:bodyPr>
          <a:lstStyle/>
          <a:p>
            <a:pPr algn="l">
              <a:lnSpc>
                <a:spcPts val="3239"/>
              </a:lnSpc>
            </a:pPr>
            <a:r>
              <a:rPr lang="en-US" sz="2699" b="true">
                <a:solidFill>
                  <a:srgbClr val="FFFFFF"/>
                </a:solidFill>
                <a:latin typeface="Montserrat Bold"/>
                <a:ea typeface="Montserrat Bold"/>
                <a:cs typeface="Montserrat Bold"/>
                <a:sym typeface="Montserrat Bold"/>
              </a:rPr>
              <a:t>Insight</a:t>
            </a:r>
          </a:p>
        </p:txBody>
      </p:sp>
      <p:sp>
        <p:nvSpPr>
          <p:cNvPr name="TextBox 8" id="8"/>
          <p:cNvSpPr txBox="true"/>
          <p:nvPr/>
        </p:nvSpPr>
        <p:spPr>
          <a:xfrm rot="0">
            <a:off x="11519998" y="1128920"/>
            <a:ext cx="6350824" cy="2213610"/>
          </a:xfrm>
          <a:prstGeom prst="rect">
            <a:avLst/>
          </a:prstGeom>
        </p:spPr>
        <p:txBody>
          <a:bodyPr anchor="t" rtlCol="false" tIns="0" lIns="0" bIns="0" rIns="0">
            <a:spAutoFit/>
          </a:bodyPr>
          <a:lstStyle/>
          <a:p>
            <a:pPr algn="l">
              <a:lnSpc>
                <a:spcPts val="2940"/>
              </a:lnSpc>
            </a:pPr>
            <a:r>
              <a:rPr lang="en-US" sz="2100">
                <a:solidFill>
                  <a:srgbClr val="FFFFFF"/>
                </a:solidFill>
                <a:latin typeface="Proxima Nova"/>
                <a:ea typeface="Proxima Nova"/>
                <a:cs typeface="Proxima Nova"/>
                <a:sym typeface="Proxima Nova"/>
              </a:rPr>
              <a:t>Everlasting Gobstopper, Hair Toffee, and several Wonka Bar variants achieve very high profit margins (70–80%).</a:t>
            </a:r>
          </a:p>
          <a:p>
            <a:pPr algn="l">
              <a:lnSpc>
                <a:spcPts val="2940"/>
              </a:lnSpc>
            </a:pPr>
            <a:r>
              <a:rPr lang="en-US" sz="2100">
                <a:solidFill>
                  <a:srgbClr val="FFFFFF"/>
                </a:solidFill>
                <a:latin typeface="Proxima Nova"/>
                <a:ea typeface="Proxima Nova"/>
                <a:cs typeface="Proxima Nova"/>
                <a:sym typeface="Proxima Nova"/>
              </a:rPr>
              <a:t>Products like Kazookles, Fun Dip, and Nerds show significantly lower margins, indicating pricing or cost issues.</a:t>
            </a:r>
          </a:p>
        </p:txBody>
      </p:sp>
      <p:grpSp>
        <p:nvGrpSpPr>
          <p:cNvPr name="Group 9" id="9"/>
          <p:cNvGrpSpPr/>
          <p:nvPr/>
        </p:nvGrpSpPr>
        <p:grpSpPr>
          <a:xfrm rot="0">
            <a:off x="11099917" y="3764575"/>
            <a:ext cx="6928560" cy="2434001"/>
            <a:chOff x="0" y="0"/>
            <a:chExt cx="1824806" cy="641054"/>
          </a:xfrm>
        </p:grpSpPr>
        <p:sp>
          <p:nvSpPr>
            <p:cNvPr name="Freeform 10" id="10"/>
            <p:cNvSpPr/>
            <p:nvPr/>
          </p:nvSpPr>
          <p:spPr>
            <a:xfrm flipH="false" flipV="false" rot="0">
              <a:off x="0" y="0"/>
              <a:ext cx="1824806" cy="641054"/>
            </a:xfrm>
            <a:custGeom>
              <a:avLst/>
              <a:gdLst/>
              <a:ahLst/>
              <a:cxnLst/>
              <a:rect r="r" b="b" t="t" l="l"/>
              <a:pathLst>
                <a:path h="641054" w="1824806">
                  <a:moveTo>
                    <a:pt x="33522" y="0"/>
                  </a:moveTo>
                  <a:lnTo>
                    <a:pt x="1791284" y="0"/>
                  </a:lnTo>
                  <a:cubicBezTo>
                    <a:pt x="1809798" y="0"/>
                    <a:pt x="1824806" y="15008"/>
                    <a:pt x="1824806" y="33522"/>
                  </a:cubicBezTo>
                  <a:lnTo>
                    <a:pt x="1824806" y="607532"/>
                  </a:lnTo>
                  <a:cubicBezTo>
                    <a:pt x="1824806" y="626045"/>
                    <a:pt x="1809798" y="641054"/>
                    <a:pt x="1791284" y="641054"/>
                  </a:cubicBezTo>
                  <a:lnTo>
                    <a:pt x="33522" y="641054"/>
                  </a:lnTo>
                  <a:cubicBezTo>
                    <a:pt x="15008" y="641054"/>
                    <a:pt x="0" y="626045"/>
                    <a:pt x="0" y="607532"/>
                  </a:cubicBezTo>
                  <a:lnTo>
                    <a:pt x="0" y="33522"/>
                  </a:lnTo>
                  <a:cubicBezTo>
                    <a:pt x="0" y="15008"/>
                    <a:pt x="15008" y="0"/>
                    <a:pt x="33522" y="0"/>
                  </a:cubicBezTo>
                  <a:close/>
                </a:path>
              </a:pathLst>
            </a:custGeom>
            <a:solidFill>
              <a:srgbClr val="675145"/>
            </a:solidFill>
          </p:spPr>
        </p:sp>
        <p:sp>
          <p:nvSpPr>
            <p:cNvPr name="TextBox 11" id="11"/>
            <p:cNvSpPr txBox="true"/>
            <p:nvPr/>
          </p:nvSpPr>
          <p:spPr>
            <a:xfrm>
              <a:off x="0" y="-28575"/>
              <a:ext cx="1824806" cy="669629"/>
            </a:xfrm>
            <a:prstGeom prst="rect">
              <a:avLst/>
            </a:prstGeom>
          </p:spPr>
          <p:txBody>
            <a:bodyPr anchor="ctr" rtlCol="false" tIns="50800" lIns="50800" bIns="50800" rIns="50800"/>
            <a:lstStyle/>
            <a:p>
              <a:pPr algn="ctr">
                <a:lnSpc>
                  <a:spcPts val="2100"/>
                </a:lnSpc>
              </a:pPr>
            </a:p>
          </p:txBody>
        </p:sp>
      </p:grpSp>
      <p:sp>
        <p:nvSpPr>
          <p:cNvPr name="TextBox 12" id="12"/>
          <p:cNvSpPr txBox="true"/>
          <p:nvPr/>
        </p:nvSpPr>
        <p:spPr>
          <a:xfrm rot="0">
            <a:off x="11519998" y="3907450"/>
            <a:ext cx="3822697" cy="409575"/>
          </a:xfrm>
          <a:prstGeom prst="rect">
            <a:avLst/>
          </a:prstGeom>
        </p:spPr>
        <p:txBody>
          <a:bodyPr anchor="t" rtlCol="false" tIns="0" lIns="0" bIns="0" rIns="0">
            <a:spAutoFit/>
          </a:bodyPr>
          <a:lstStyle/>
          <a:p>
            <a:pPr algn="l">
              <a:lnSpc>
                <a:spcPts val="3239"/>
              </a:lnSpc>
            </a:pPr>
            <a:r>
              <a:rPr lang="en-US" sz="2699" b="true">
                <a:solidFill>
                  <a:srgbClr val="FFFFFF"/>
                </a:solidFill>
                <a:latin typeface="Montserrat Bold"/>
                <a:ea typeface="Montserrat Bold"/>
                <a:cs typeface="Montserrat Bold"/>
                <a:sym typeface="Montserrat Bold"/>
              </a:rPr>
              <a:t>Interpretation</a:t>
            </a:r>
          </a:p>
        </p:txBody>
      </p:sp>
      <p:sp>
        <p:nvSpPr>
          <p:cNvPr name="TextBox 13" id="13"/>
          <p:cNvSpPr txBox="true"/>
          <p:nvPr/>
        </p:nvSpPr>
        <p:spPr>
          <a:xfrm rot="0">
            <a:off x="11519998" y="4436294"/>
            <a:ext cx="6350824" cy="1470660"/>
          </a:xfrm>
          <a:prstGeom prst="rect">
            <a:avLst/>
          </a:prstGeom>
        </p:spPr>
        <p:txBody>
          <a:bodyPr anchor="t" rtlCol="false" tIns="0" lIns="0" bIns="0" rIns="0">
            <a:spAutoFit/>
          </a:bodyPr>
          <a:lstStyle/>
          <a:p>
            <a:pPr algn="l">
              <a:lnSpc>
                <a:spcPts val="2940"/>
              </a:lnSpc>
            </a:pPr>
            <a:r>
              <a:rPr lang="en-US" sz="2100">
                <a:solidFill>
                  <a:srgbClr val="FFFFFF"/>
                </a:solidFill>
                <a:latin typeface="Proxima Nova"/>
                <a:ea typeface="Proxima Nova"/>
                <a:cs typeface="Proxima Nova"/>
                <a:sym typeface="Proxima Nova"/>
              </a:rPr>
              <a:t>High-m</a:t>
            </a:r>
            <a:r>
              <a:rPr lang="en-US" sz="2100">
                <a:solidFill>
                  <a:srgbClr val="FFFFFF"/>
                </a:solidFill>
                <a:latin typeface="Proxima Nova"/>
                <a:ea typeface="Proxima Nova"/>
                <a:cs typeface="Proxima Nova"/>
                <a:sym typeface="Proxima Nova"/>
              </a:rPr>
              <a:t>argin products are extremely efficient, they generate strong profit per unit sold.</a:t>
            </a:r>
          </a:p>
          <a:p>
            <a:pPr algn="l">
              <a:lnSpc>
                <a:spcPts val="2940"/>
              </a:lnSpc>
            </a:pPr>
            <a:r>
              <a:rPr lang="en-US" sz="2100">
                <a:solidFill>
                  <a:srgbClr val="FFFFFF"/>
                </a:solidFill>
                <a:latin typeface="Proxima Nova"/>
                <a:ea typeface="Proxima Nova"/>
                <a:cs typeface="Proxima Nova"/>
                <a:sym typeface="Proxima Nova"/>
              </a:rPr>
              <a:t>Low-margin products may struggle with poor pricing, higher production costs, or low perceived value.</a:t>
            </a:r>
          </a:p>
        </p:txBody>
      </p:sp>
      <p:grpSp>
        <p:nvGrpSpPr>
          <p:cNvPr name="Group 14" id="14"/>
          <p:cNvGrpSpPr/>
          <p:nvPr/>
        </p:nvGrpSpPr>
        <p:grpSpPr>
          <a:xfrm rot="0">
            <a:off x="11099917" y="6484325"/>
            <a:ext cx="6928560" cy="3588674"/>
            <a:chOff x="0" y="0"/>
            <a:chExt cx="1824806" cy="945165"/>
          </a:xfrm>
        </p:grpSpPr>
        <p:sp>
          <p:nvSpPr>
            <p:cNvPr name="Freeform 15" id="15"/>
            <p:cNvSpPr/>
            <p:nvPr/>
          </p:nvSpPr>
          <p:spPr>
            <a:xfrm flipH="false" flipV="false" rot="0">
              <a:off x="0" y="0"/>
              <a:ext cx="1824806" cy="945165"/>
            </a:xfrm>
            <a:custGeom>
              <a:avLst/>
              <a:gdLst/>
              <a:ahLst/>
              <a:cxnLst/>
              <a:rect r="r" b="b" t="t" l="l"/>
              <a:pathLst>
                <a:path h="945165" w="1824806">
                  <a:moveTo>
                    <a:pt x="33522" y="0"/>
                  </a:moveTo>
                  <a:lnTo>
                    <a:pt x="1791284" y="0"/>
                  </a:lnTo>
                  <a:cubicBezTo>
                    <a:pt x="1809798" y="0"/>
                    <a:pt x="1824806" y="15008"/>
                    <a:pt x="1824806" y="33522"/>
                  </a:cubicBezTo>
                  <a:lnTo>
                    <a:pt x="1824806" y="911643"/>
                  </a:lnTo>
                  <a:cubicBezTo>
                    <a:pt x="1824806" y="930157"/>
                    <a:pt x="1809798" y="945165"/>
                    <a:pt x="1791284" y="945165"/>
                  </a:cubicBezTo>
                  <a:lnTo>
                    <a:pt x="33522" y="945165"/>
                  </a:lnTo>
                  <a:cubicBezTo>
                    <a:pt x="15008" y="945165"/>
                    <a:pt x="0" y="930157"/>
                    <a:pt x="0" y="911643"/>
                  </a:cubicBezTo>
                  <a:lnTo>
                    <a:pt x="0" y="33522"/>
                  </a:lnTo>
                  <a:cubicBezTo>
                    <a:pt x="0" y="15008"/>
                    <a:pt x="15008" y="0"/>
                    <a:pt x="33522" y="0"/>
                  </a:cubicBezTo>
                  <a:close/>
                </a:path>
              </a:pathLst>
            </a:custGeom>
            <a:solidFill>
              <a:srgbClr val="8A756A"/>
            </a:solidFill>
          </p:spPr>
        </p:sp>
        <p:sp>
          <p:nvSpPr>
            <p:cNvPr name="TextBox 16" id="16"/>
            <p:cNvSpPr txBox="true"/>
            <p:nvPr/>
          </p:nvSpPr>
          <p:spPr>
            <a:xfrm>
              <a:off x="0" y="-28575"/>
              <a:ext cx="1824806" cy="973740"/>
            </a:xfrm>
            <a:prstGeom prst="rect">
              <a:avLst/>
            </a:prstGeom>
          </p:spPr>
          <p:txBody>
            <a:bodyPr anchor="ctr" rtlCol="false" tIns="50800" lIns="50800" bIns="50800" rIns="50800"/>
            <a:lstStyle/>
            <a:p>
              <a:pPr algn="ctr">
                <a:lnSpc>
                  <a:spcPts val="2100"/>
                </a:lnSpc>
              </a:pPr>
            </a:p>
          </p:txBody>
        </p:sp>
      </p:grpSp>
      <p:sp>
        <p:nvSpPr>
          <p:cNvPr name="TextBox 17" id="17"/>
          <p:cNvSpPr txBox="true"/>
          <p:nvPr/>
        </p:nvSpPr>
        <p:spPr>
          <a:xfrm rot="0">
            <a:off x="11519998" y="6627200"/>
            <a:ext cx="3822697" cy="409575"/>
          </a:xfrm>
          <a:prstGeom prst="rect">
            <a:avLst/>
          </a:prstGeom>
        </p:spPr>
        <p:txBody>
          <a:bodyPr anchor="t" rtlCol="false" tIns="0" lIns="0" bIns="0" rIns="0">
            <a:spAutoFit/>
          </a:bodyPr>
          <a:lstStyle/>
          <a:p>
            <a:pPr algn="l">
              <a:lnSpc>
                <a:spcPts val="3239"/>
              </a:lnSpc>
            </a:pPr>
            <a:r>
              <a:rPr lang="en-US" sz="2699" b="true">
                <a:solidFill>
                  <a:srgbClr val="FFFFFF"/>
                </a:solidFill>
                <a:latin typeface="Montserrat Bold"/>
                <a:ea typeface="Montserrat Bold"/>
                <a:cs typeface="Montserrat Bold"/>
                <a:sym typeface="Montserrat Bold"/>
              </a:rPr>
              <a:t>Bu</a:t>
            </a:r>
            <a:r>
              <a:rPr lang="en-US" sz="2699" b="true">
                <a:solidFill>
                  <a:srgbClr val="FFFFFF"/>
                </a:solidFill>
                <a:latin typeface="Montserrat Bold"/>
                <a:ea typeface="Montserrat Bold"/>
                <a:cs typeface="Montserrat Bold"/>
                <a:sym typeface="Montserrat Bold"/>
              </a:rPr>
              <a:t>siness Impact</a:t>
            </a:r>
          </a:p>
        </p:txBody>
      </p:sp>
      <p:sp>
        <p:nvSpPr>
          <p:cNvPr name="TextBox 18" id="18"/>
          <p:cNvSpPr txBox="true"/>
          <p:nvPr/>
        </p:nvSpPr>
        <p:spPr>
          <a:xfrm rot="0">
            <a:off x="11519998" y="7156045"/>
            <a:ext cx="6350824" cy="3106420"/>
          </a:xfrm>
          <a:prstGeom prst="rect">
            <a:avLst/>
          </a:prstGeom>
        </p:spPr>
        <p:txBody>
          <a:bodyPr anchor="t" rtlCol="false" tIns="0" lIns="0" bIns="0" rIns="0">
            <a:spAutoFit/>
          </a:bodyPr>
          <a:lstStyle/>
          <a:p>
            <a:pPr algn="l">
              <a:lnSpc>
                <a:spcPts val="3079"/>
              </a:lnSpc>
            </a:pPr>
            <a:r>
              <a:rPr lang="en-US" sz="2199">
                <a:solidFill>
                  <a:srgbClr val="FFFFFF"/>
                </a:solidFill>
                <a:latin typeface="Proxima Nova"/>
                <a:ea typeface="Proxima Nova"/>
                <a:cs typeface="Proxima Nova"/>
                <a:sym typeface="Proxima Nova"/>
              </a:rPr>
              <a:t>Maintain or slightly increase prices on high-m</a:t>
            </a:r>
            <a:r>
              <a:rPr lang="en-US" sz="2199">
                <a:solidFill>
                  <a:srgbClr val="FFFFFF"/>
                </a:solidFill>
                <a:latin typeface="Proxima Nova"/>
                <a:ea typeface="Proxima Nova"/>
                <a:cs typeface="Proxima Nova"/>
                <a:sym typeface="Proxima Nova"/>
              </a:rPr>
              <a:t>argin products to further capitalise on strong profitability.</a:t>
            </a:r>
          </a:p>
          <a:p>
            <a:pPr algn="l">
              <a:lnSpc>
                <a:spcPts val="3079"/>
              </a:lnSpc>
            </a:pPr>
            <a:r>
              <a:rPr lang="en-US" sz="2199">
                <a:solidFill>
                  <a:srgbClr val="FFFFFF"/>
                </a:solidFill>
                <a:latin typeface="Proxima Nova"/>
                <a:ea typeface="Proxima Nova"/>
                <a:cs typeface="Proxima Nova"/>
                <a:sym typeface="Proxima Nova"/>
              </a:rPr>
              <a:t>Review pricing structures for low-margin items; consider reformulation, cost reduction, or repositioning in the market.</a:t>
            </a:r>
          </a:p>
          <a:p>
            <a:pPr algn="l">
              <a:lnSpc>
                <a:spcPts val="3079"/>
              </a:lnSpc>
            </a:pPr>
            <a:r>
              <a:rPr lang="en-US" sz="2199">
                <a:solidFill>
                  <a:srgbClr val="FFFFFF"/>
                </a:solidFill>
                <a:latin typeface="Proxima Nova"/>
                <a:ea typeface="Proxima Nova"/>
                <a:cs typeface="Proxima Nova"/>
                <a:sym typeface="Proxima Nova"/>
              </a:rPr>
              <a:t>Prioritise production capacity for products that combine both high margin and high total profit.</a:t>
            </a:r>
          </a:p>
          <a:p>
            <a:pPr algn="l">
              <a:lnSpc>
                <a:spcPts val="3079"/>
              </a:lnSpc>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381000" y="486520"/>
            <a:ext cx="11405129" cy="771525"/>
          </a:xfrm>
          <a:prstGeom prst="rect">
            <a:avLst/>
          </a:prstGeom>
        </p:spPr>
        <p:txBody>
          <a:bodyPr anchor="t" rtlCol="false" tIns="0" lIns="0" bIns="0" rIns="0">
            <a:spAutoFit/>
          </a:bodyPr>
          <a:lstStyle/>
          <a:p>
            <a:pPr algn="l">
              <a:lnSpc>
                <a:spcPts val="5760"/>
              </a:lnSpc>
            </a:pPr>
            <a:r>
              <a:rPr lang="en-US" sz="4800" b="true">
                <a:solidFill>
                  <a:srgbClr val="412A1D"/>
                </a:solidFill>
                <a:latin typeface="Poppins Bold"/>
                <a:ea typeface="Poppins Bold"/>
                <a:cs typeface="Poppins Bold"/>
                <a:sym typeface="Poppins Bold"/>
              </a:rPr>
              <a:t>Best Customers profitability vs units</a:t>
            </a:r>
          </a:p>
        </p:txBody>
      </p:sp>
      <p:sp>
        <p:nvSpPr>
          <p:cNvPr name="Freeform 3" id="3"/>
          <p:cNvSpPr/>
          <p:nvPr/>
        </p:nvSpPr>
        <p:spPr>
          <a:xfrm flipH="false" flipV="false" rot="0">
            <a:off x="274735" y="1915270"/>
            <a:ext cx="11617659" cy="6927029"/>
          </a:xfrm>
          <a:custGeom>
            <a:avLst/>
            <a:gdLst/>
            <a:ahLst/>
            <a:cxnLst/>
            <a:rect r="r" b="b" t="t" l="l"/>
            <a:pathLst>
              <a:path h="6927029" w="11617659">
                <a:moveTo>
                  <a:pt x="0" y="0"/>
                </a:moveTo>
                <a:lnTo>
                  <a:pt x="11617659" y="0"/>
                </a:lnTo>
                <a:lnTo>
                  <a:pt x="11617659" y="6927029"/>
                </a:lnTo>
                <a:lnTo>
                  <a:pt x="0" y="6927029"/>
                </a:lnTo>
                <a:lnTo>
                  <a:pt x="0" y="0"/>
                </a:lnTo>
                <a:close/>
              </a:path>
            </a:pathLst>
          </a:custGeom>
          <a:blipFill>
            <a:blip r:embed="rId3"/>
            <a:stretch>
              <a:fillRect l="0" t="0" r="0" b="0"/>
            </a:stretch>
          </a:blipFill>
          <a:ln w="38100" cap="sq">
            <a:solidFill>
              <a:srgbClr val="8A756A"/>
            </a:solidFill>
            <a:prstDash val="solid"/>
            <a:miter/>
          </a:ln>
        </p:spPr>
      </p:sp>
      <p:grpSp>
        <p:nvGrpSpPr>
          <p:cNvPr name="Group 4" id="4"/>
          <p:cNvGrpSpPr/>
          <p:nvPr/>
        </p:nvGrpSpPr>
        <p:grpSpPr>
          <a:xfrm rot="0">
            <a:off x="12108525" y="1386606"/>
            <a:ext cx="5881975" cy="2829420"/>
            <a:chOff x="0" y="0"/>
            <a:chExt cx="1549162" cy="745197"/>
          </a:xfrm>
        </p:grpSpPr>
        <p:sp>
          <p:nvSpPr>
            <p:cNvPr name="Freeform 5" id="5"/>
            <p:cNvSpPr/>
            <p:nvPr/>
          </p:nvSpPr>
          <p:spPr>
            <a:xfrm flipH="false" flipV="false" rot="0">
              <a:off x="0" y="0"/>
              <a:ext cx="1549162" cy="745197"/>
            </a:xfrm>
            <a:custGeom>
              <a:avLst/>
              <a:gdLst/>
              <a:ahLst/>
              <a:cxnLst/>
              <a:rect r="r" b="b" t="t" l="l"/>
              <a:pathLst>
                <a:path h="745197" w="1549162">
                  <a:moveTo>
                    <a:pt x="39486" y="0"/>
                  </a:moveTo>
                  <a:lnTo>
                    <a:pt x="1509676" y="0"/>
                  </a:lnTo>
                  <a:cubicBezTo>
                    <a:pt x="1520148" y="0"/>
                    <a:pt x="1530192" y="4160"/>
                    <a:pt x="1537597" y="11565"/>
                  </a:cubicBezTo>
                  <a:cubicBezTo>
                    <a:pt x="1545002" y="18970"/>
                    <a:pt x="1549162" y="29014"/>
                    <a:pt x="1549162" y="39486"/>
                  </a:cubicBezTo>
                  <a:lnTo>
                    <a:pt x="1549162" y="705711"/>
                  </a:lnTo>
                  <a:cubicBezTo>
                    <a:pt x="1549162" y="716183"/>
                    <a:pt x="1545002" y="726227"/>
                    <a:pt x="1537597" y="733632"/>
                  </a:cubicBezTo>
                  <a:cubicBezTo>
                    <a:pt x="1530192" y="741037"/>
                    <a:pt x="1520148" y="745197"/>
                    <a:pt x="1509676" y="745197"/>
                  </a:cubicBezTo>
                  <a:lnTo>
                    <a:pt x="39486" y="745197"/>
                  </a:lnTo>
                  <a:cubicBezTo>
                    <a:pt x="29014" y="745197"/>
                    <a:pt x="18970" y="741037"/>
                    <a:pt x="11565" y="733632"/>
                  </a:cubicBezTo>
                  <a:cubicBezTo>
                    <a:pt x="4160" y="726227"/>
                    <a:pt x="0" y="716183"/>
                    <a:pt x="0" y="705711"/>
                  </a:cubicBezTo>
                  <a:lnTo>
                    <a:pt x="0" y="39486"/>
                  </a:lnTo>
                  <a:cubicBezTo>
                    <a:pt x="0" y="29014"/>
                    <a:pt x="4160" y="18970"/>
                    <a:pt x="11565" y="11565"/>
                  </a:cubicBezTo>
                  <a:cubicBezTo>
                    <a:pt x="18970" y="4160"/>
                    <a:pt x="29014" y="0"/>
                    <a:pt x="39486" y="0"/>
                  </a:cubicBezTo>
                  <a:close/>
                </a:path>
              </a:pathLst>
            </a:custGeom>
            <a:solidFill>
              <a:srgbClr val="412A1D"/>
            </a:solidFill>
          </p:spPr>
        </p:sp>
        <p:sp>
          <p:nvSpPr>
            <p:cNvPr name="TextBox 6" id="6"/>
            <p:cNvSpPr txBox="true"/>
            <p:nvPr/>
          </p:nvSpPr>
          <p:spPr>
            <a:xfrm>
              <a:off x="0" y="-28575"/>
              <a:ext cx="1549162" cy="773772"/>
            </a:xfrm>
            <a:prstGeom prst="rect">
              <a:avLst/>
            </a:prstGeom>
          </p:spPr>
          <p:txBody>
            <a:bodyPr anchor="ctr" rtlCol="false" tIns="50800" lIns="50800" bIns="50800" rIns="50800"/>
            <a:lstStyle/>
            <a:p>
              <a:pPr algn="ctr">
                <a:lnSpc>
                  <a:spcPts val="2100"/>
                </a:lnSpc>
              </a:pPr>
            </a:p>
          </p:txBody>
        </p:sp>
      </p:grpSp>
      <p:sp>
        <p:nvSpPr>
          <p:cNvPr name="TextBox 7" id="7"/>
          <p:cNvSpPr txBox="true"/>
          <p:nvPr/>
        </p:nvSpPr>
        <p:spPr>
          <a:xfrm rot="0">
            <a:off x="12385857" y="1464711"/>
            <a:ext cx="4448271" cy="464820"/>
          </a:xfrm>
          <a:prstGeom prst="rect">
            <a:avLst/>
          </a:prstGeom>
        </p:spPr>
        <p:txBody>
          <a:bodyPr anchor="t" rtlCol="false" tIns="0" lIns="0" bIns="0" rIns="0">
            <a:spAutoFit/>
          </a:bodyPr>
          <a:lstStyle/>
          <a:p>
            <a:pPr algn="l">
              <a:lnSpc>
                <a:spcPts val="3779"/>
              </a:lnSpc>
              <a:spcBef>
                <a:spcPct val="0"/>
              </a:spcBef>
            </a:pPr>
            <a:r>
              <a:rPr lang="en-US" sz="2700" b="true">
                <a:solidFill>
                  <a:srgbClr val="FFFFFF"/>
                </a:solidFill>
                <a:latin typeface="Work Sans Bold"/>
                <a:ea typeface="Work Sans Bold"/>
                <a:cs typeface="Work Sans Bold"/>
                <a:sym typeface="Work Sans Bold"/>
              </a:rPr>
              <a:t>Insights</a:t>
            </a:r>
          </a:p>
        </p:txBody>
      </p:sp>
      <p:sp>
        <p:nvSpPr>
          <p:cNvPr name="TextBox 8" id="8"/>
          <p:cNvSpPr txBox="true"/>
          <p:nvPr/>
        </p:nvSpPr>
        <p:spPr>
          <a:xfrm rot="0">
            <a:off x="12197029" y="2113140"/>
            <a:ext cx="5130725" cy="1736726"/>
          </a:xfrm>
          <a:prstGeom prst="rect">
            <a:avLst/>
          </a:prstGeom>
        </p:spPr>
        <p:txBody>
          <a:bodyPr anchor="t" rtlCol="false" tIns="0" lIns="0" bIns="0" rIns="0">
            <a:spAutoFit/>
          </a:bodyPr>
          <a:lstStyle/>
          <a:p>
            <a:pPr algn="l" marL="539745" indent="-269872" lvl="1">
              <a:lnSpc>
                <a:spcPts val="3499"/>
              </a:lnSpc>
              <a:spcBef>
                <a:spcPct val="0"/>
              </a:spcBef>
              <a:buFont typeface="Arial"/>
              <a:buChar char="•"/>
            </a:pPr>
            <a:r>
              <a:rPr lang="en-US" b="true" sz="2499">
                <a:solidFill>
                  <a:srgbClr val="FFFFFF"/>
                </a:solidFill>
                <a:latin typeface="Work Sans Bold"/>
                <a:ea typeface="Work Sans Bold"/>
                <a:cs typeface="Work Sans Bold"/>
                <a:sym typeface="Work Sans Bold"/>
              </a:rPr>
              <a:t>Lickable Wallpaper </a:t>
            </a:r>
            <a:r>
              <a:rPr lang="en-US" sz="2499">
                <a:solidFill>
                  <a:srgbClr val="FFFFFF"/>
                </a:solidFill>
                <a:latin typeface="Work Sans"/>
                <a:ea typeface="Work Sans"/>
                <a:cs typeface="Work Sans"/>
                <a:sym typeface="Work Sans"/>
              </a:rPr>
              <a:t>drives disproportionate profit for the best customer despite modest unit volume.</a:t>
            </a:r>
          </a:p>
        </p:txBody>
      </p:sp>
      <p:grpSp>
        <p:nvGrpSpPr>
          <p:cNvPr name="Group 9" id="9"/>
          <p:cNvGrpSpPr/>
          <p:nvPr/>
        </p:nvGrpSpPr>
        <p:grpSpPr>
          <a:xfrm rot="0">
            <a:off x="12108525" y="4397001"/>
            <a:ext cx="5881975" cy="3166070"/>
            <a:chOff x="0" y="0"/>
            <a:chExt cx="1549162" cy="833862"/>
          </a:xfrm>
        </p:grpSpPr>
        <p:sp>
          <p:nvSpPr>
            <p:cNvPr name="Freeform 10" id="10"/>
            <p:cNvSpPr/>
            <p:nvPr/>
          </p:nvSpPr>
          <p:spPr>
            <a:xfrm flipH="false" flipV="false" rot="0">
              <a:off x="0" y="0"/>
              <a:ext cx="1549162" cy="833862"/>
            </a:xfrm>
            <a:custGeom>
              <a:avLst/>
              <a:gdLst/>
              <a:ahLst/>
              <a:cxnLst/>
              <a:rect r="r" b="b" t="t" l="l"/>
              <a:pathLst>
                <a:path h="833862" w="1549162">
                  <a:moveTo>
                    <a:pt x="39486" y="0"/>
                  </a:moveTo>
                  <a:lnTo>
                    <a:pt x="1509676" y="0"/>
                  </a:lnTo>
                  <a:cubicBezTo>
                    <a:pt x="1520148" y="0"/>
                    <a:pt x="1530192" y="4160"/>
                    <a:pt x="1537597" y="11565"/>
                  </a:cubicBezTo>
                  <a:cubicBezTo>
                    <a:pt x="1545002" y="18970"/>
                    <a:pt x="1549162" y="29014"/>
                    <a:pt x="1549162" y="39486"/>
                  </a:cubicBezTo>
                  <a:lnTo>
                    <a:pt x="1549162" y="794376"/>
                  </a:lnTo>
                  <a:cubicBezTo>
                    <a:pt x="1549162" y="804848"/>
                    <a:pt x="1545002" y="814892"/>
                    <a:pt x="1537597" y="822297"/>
                  </a:cubicBezTo>
                  <a:cubicBezTo>
                    <a:pt x="1530192" y="829702"/>
                    <a:pt x="1520148" y="833862"/>
                    <a:pt x="1509676" y="833862"/>
                  </a:cubicBezTo>
                  <a:lnTo>
                    <a:pt x="39486" y="833862"/>
                  </a:lnTo>
                  <a:cubicBezTo>
                    <a:pt x="29014" y="833862"/>
                    <a:pt x="18970" y="829702"/>
                    <a:pt x="11565" y="822297"/>
                  </a:cubicBezTo>
                  <a:cubicBezTo>
                    <a:pt x="4160" y="814892"/>
                    <a:pt x="0" y="804848"/>
                    <a:pt x="0" y="794376"/>
                  </a:cubicBezTo>
                  <a:lnTo>
                    <a:pt x="0" y="39486"/>
                  </a:lnTo>
                  <a:cubicBezTo>
                    <a:pt x="0" y="29014"/>
                    <a:pt x="4160" y="18970"/>
                    <a:pt x="11565" y="11565"/>
                  </a:cubicBezTo>
                  <a:cubicBezTo>
                    <a:pt x="18970" y="4160"/>
                    <a:pt x="29014" y="0"/>
                    <a:pt x="39486" y="0"/>
                  </a:cubicBezTo>
                  <a:close/>
                </a:path>
              </a:pathLst>
            </a:custGeom>
            <a:solidFill>
              <a:srgbClr val="675145"/>
            </a:solidFill>
          </p:spPr>
        </p:sp>
        <p:sp>
          <p:nvSpPr>
            <p:cNvPr name="TextBox 11" id="11"/>
            <p:cNvSpPr txBox="true"/>
            <p:nvPr/>
          </p:nvSpPr>
          <p:spPr>
            <a:xfrm>
              <a:off x="0" y="-28575"/>
              <a:ext cx="1549162" cy="862437"/>
            </a:xfrm>
            <a:prstGeom prst="rect">
              <a:avLst/>
            </a:prstGeom>
          </p:spPr>
          <p:txBody>
            <a:bodyPr anchor="ctr" rtlCol="false" tIns="50800" lIns="50800" bIns="50800" rIns="50800"/>
            <a:lstStyle/>
            <a:p>
              <a:pPr algn="ctr">
                <a:lnSpc>
                  <a:spcPts val="2100"/>
                </a:lnSpc>
              </a:pPr>
            </a:p>
          </p:txBody>
        </p:sp>
      </p:grpSp>
      <p:sp>
        <p:nvSpPr>
          <p:cNvPr name="TextBox 12" id="12"/>
          <p:cNvSpPr txBox="true"/>
          <p:nvPr/>
        </p:nvSpPr>
        <p:spPr>
          <a:xfrm rot="0">
            <a:off x="12357282" y="4523623"/>
            <a:ext cx="4448271" cy="464820"/>
          </a:xfrm>
          <a:prstGeom prst="rect">
            <a:avLst/>
          </a:prstGeom>
        </p:spPr>
        <p:txBody>
          <a:bodyPr anchor="t" rtlCol="false" tIns="0" lIns="0" bIns="0" rIns="0">
            <a:spAutoFit/>
          </a:bodyPr>
          <a:lstStyle/>
          <a:p>
            <a:pPr algn="l">
              <a:lnSpc>
                <a:spcPts val="3779"/>
              </a:lnSpc>
              <a:spcBef>
                <a:spcPct val="0"/>
              </a:spcBef>
            </a:pPr>
            <a:r>
              <a:rPr lang="en-US" sz="2700" b="true">
                <a:solidFill>
                  <a:srgbClr val="FFFFFF"/>
                </a:solidFill>
                <a:latin typeface="Work Sans Bold"/>
                <a:ea typeface="Work Sans Bold"/>
                <a:cs typeface="Work Sans Bold"/>
                <a:sym typeface="Work Sans Bold"/>
              </a:rPr>
              <a:t>Interpretation</a:t>
            </a:r>
          </a:p>
        </p:txBody>
      </p:sp>
      <p:sp>
        <p:nvSpPr>
          <p:cNvPr name="TextBox 13" id="13"/>
          <p:cNvSpPr txBox="true"/>
          <p:nvPr/>
        </p:nvSpPr>
        <p:spPr>
          <a:xfrm rot="0">
            <a:off x="12206554" y="5121793"/>
            <a:ext cx="5130725" cy="2174876"/>
          </a:xfrm>
          <a:prstGeom prst="rect">
            <a:avLst/>
          </a:prstGeom>
        </p:spPr>
        <p:txBody>
          <a:bodyPr anchor="t" rtlCol="false" tIns="0" lIns="0" bIns="0" rIns="0">
            <a:spAutoFit/>
          </a:bodyPr>
          <a:lstStyle/>
          <a:p>
            <a:pPr algn="l" marL="539745" indent="-269872" lvl="1">
              <a:lnSpc>
                <a:spcPts val="3499"/>
              </a:lnSpc>
              <a:buFont typeface="Arial"/>
              <a:buChar char="•"/>
            </a:pPr>
            <a:r>
              <a:rPr lang="en-US" b="true" sz="2499">
                <a:solidFill>
                  <a:srgbClr val="FFFFFF"/>
                </a:solidFill>
                <a:latin typeface="Work Sans Bold"/>
                <a:ea typeface="Work Sans Bold"/>
                <a:cs typeface="Work Sans Bold"/>
                <a:sym typeface="Work Sans Bold"/>
              </a:rPr>
              <a:t>Prem</a:t>
            </a:r>
            <a:r>
              <a:rPr lang="en-US" b="true" sz="2499">
                <a:solidFill>
                  <a:srgbClr val="FFFFFF"/>
                </a:solidFill>
                <a:latin typeface="Work Sans Bold"/>
                <a:ea typeface="Work Sans Bold"/>
                <a:cs typeface="Work Sans Bold"/>
                <a:sym typeface="Work Sans Bold"/>
              </a:rPr>
              <a:t>ium products </a:t>
            </a:r>
            <a:r>
              <a:rPr lang="en-US" sz="2499">
                <a:solidFill>
                  <a:srgbClr val="FFFFFF"/>
                </a:solidFill>
                <a:latin typeface="Work Sans"/>
                <a:ea typeface="Work Sans"/>
                <a:cs typeface="Work Sans"/>
                <a:sym typeface="Work Sans"/>
              </a:rPr>
              <a:t>generate far </a:t>
            </a:r>
            <a:r>
              <a:rPr lang="en-US" b="true" sz="2499">
                <a:solidFill>
                  <a:srgbClr val="FFFFFF"/>
                </a:solidFill>
                <a:latin typeface="Work Sans Bold"/>
                <a:ea typeface="Work Sans Bold"/>
                <a:cs typeface="Work Sans Bold"/>
                <a:sym typeface="Work Sans Bold"/>
              </a:rPr>
              <a:t>higher margins </a:t>
            </a:r>
            <a:r>
              <a:rPr lang="en-US" sz="2499">
                <a:solidFill>
                  <a:srgbClr val="FFFFFF"/>
                </a:solidFill>
                <a:latin typeface="Work Sans"/>
                <a:ea typeface="Work Sans"/>
                <a:cs typeface="Work Sans"/>
                <a:sym typeface="Work Sans"/>
              </a:rPr>
              <a:t>than staple bars. </a:t>
            </a:r>
          </a:p>
          <a:p>
            <a:pPr algn="l" marL="539745" indent="-269872" lvl="1">
              <a:lnSpc>
                <a:spcPts val="3499"/>
              </a:lnSpc>
              <a:spcBef>
                <a:spcPct val="0"/>
              </a:spcBef>
              <a:buFont typeface="Arial"/>
              <a:buChar char="•"/>
            </a:pPr>
            <a:r>
              <a:rPr lang="en-US" sz="2499">
                <a:solidFill>
                  <a:srgbClr val="FFFFFF"/>
                </a:solidFill>
                <a:latin typeface="Work Sans"/>
                <a:ea typeface="Work Sans"/>
                <a:cs typeface="Work Sans"/>
                <a:sym typeface="Work Sans"/>
              </a:rPr>
              <a:t>Profit is concentrated in one hero item.</a:t>
            </a:r>
          </a:p>
        </p:txBody>
      </p:sp>
      <p:grpSp>
        <p:nvGrpSpPr>
          <p:cNvPr name="Group 14" id="14"/>
          <p:cNvGrpSpPr/>
          <p:nvPr/>
        </p:nvGrpSpPr>
        <p:grpSpPr>
          <a:xfrm rot="0">
            <a:off x="12108525" y="7753571"/>
            <a:ext cx="5881975" cy="2268198"/>
            <a:chOff x="0" y="0"/>
            <a:chExt cx="1549162" cy="597385"/>
          </a:xfrm>
        </p:grpSpPr>
        <p:sp>
          <p:nvSpPr>
            <p:cNvPr name="Freeform 15" id="15"/>
            <p:cNvSpPr/>
            <p:nvPr/>
          </p:nvSpPr>
          <p:spPr>
            <a:xfrm flipH="false" flipV="false" rot="0">
              <a:off x="0" y="0"/>
              <a:ext cx="1549162" cy="597385"/>
            </a:xfrm>
            <a:custGeom>
              <a:avLst/>
              <a:gdLst/>
              <a:ahLst/>
              <a:cxnLst/>
              <a:rect r="r" b="b" t="t" l="l"/>
              <a:pathLst>
                <a:path h="597385" w="1549162">
                  <a:moveTo>
                    <a:pt x="39486" y="0"/>
                  </a:moveTo>
                  <a:lnTo>
                    <a:pt x="1509676" y="0"/>
                  </a:lnTo>
                  <a:cubicBezTo>
                    <a:pt x="1520148" y="0"/>
                    <a:pt x="1530192" y="4160"/>
                    <a:pt x="1537597" y="11565"/>
                  </a:cubicBezTo>
                  <a:cubicBezTo>
                    <a:pt x="1545002" y="18970"/>
                    <a:pt x="1549162" y="29014"/>
                    <a:pt x="1549162" y="39486"/>
                  </a:cubicBezTo>
                  <a:lnTo>
                    <a:pt x="1549162" y="557899"/>
                  </a:lnTo>
                  <a:cubicBezTo>
                    <a:pt x="1549162" y="568371"/>
                    <a:pt x="1545002" y="578415"/>
                    <a:pt x="1537597" y="585820"/>
                  </a:cubicBezTo>
                  <a:cubicBezTo>
                    <a:pt x="1530192" y="593225"/>
                    <a:pt x="1520148" y="597385"/>
                    <a:pt x="1509676" y="597385"/>
                  </a:cubicBezTo>
                  <a:lnTo>
                    <a:pt x="39486" y="597385"/>
                  </a:lnTo>
                  <a:cubicBezTo>
                    <a:pt x="29014" y="597385"/>
                    <a:pt x="18970" y="593225"/>
                    <a:pt x="11565" y="585820"/>
                  </a:cubicBezTo>
                  <a:cubicBezTo>
                    <a:pt x="4160" y="578415"/>
                    <a:pt x="0" y="568371"/>
                    <a:pt x="0" y="557899"/>
                  </a:cubicBezTo>
                  <a:lnTo>
                    <a:pt x="0" y="39486"/>
                  </a:lnTo>
                  <a:cubicBezTo>
                    <a:pt x="0" y="29014"/>
                    <a:pt x="4160" y="18970"/>
                    <a:pt x="11565" y="11565"/>
                  </a:cubicBezTo>
                  <a:cubicBezTo>
                    <a:pt x="18970" y="4160"/>
                    <a:pt x="29014" y="0"/>
                    <a:pt x="39486" y="0"/>
                  </a:cubicBezTo>
                  <a:close/>
                </a:path>
              </a:pathLst>
            </a:custGeom>
            <a:solidFill>
              <a:srgbClr val="8A756A"/>
            </a:solidFill>
          </p:spPr>
        </p:sp>
        <p:sp>
          <p:nvSpPr>
            <p:cNvPr name="TextBox 16" id="16"/>
            <p:cNvSpPr txBox="true"/>
            <p:nvPr/>
          </p:nvSpPr>
          <p:spPr>
            <a:xfrm>
              <a:off x="0" y="-28575"/>
              <a:ext cx="1549162" cy="625960"/>
            </a:xfrm>
            <a:prstGeom prst="rect">
              <a:avLst/>
            </a:prstGeom>
          </p:spPr>
          <p:txBody>
            <a:bodyPr anchor="ctr" rtlCol="false" tIns="50800" lIns="50800" bIns="50800" rIns="50800"/>
            <a:lstStyle/>
            <a:p>
              <a:pPr algn="ctr">
                <a:lnSpc>
                  <a:spcPts val="2100"/>
                </a:lnSpc>
              </a:pPr>
            </a:p>
          </p:txBody>
        </p:sp>
      </p:grpSp>
      <p:sp>
        <p:nvSpPr>
          <p:cNvPr name="TextBox 17" id="17"/>
          <p:cNvSpPr txBox="true"/>
          <p:nvPr/>
        </p:nvSpPr>
        <p:spPr>
          <a:xfrm rot="0">
            <a:off x="12376332" y="7826258"/>
            <a:ext cx="4448271" cy="464820"/>
          </a:xfrm>
          <a:prstGeom prst="rect">
            <a:avLst/>
          </a:prstGeom>
        </p:spPr>
        <p:txBody>
          <a:bodyPr anchor="t" rtlCol="false" tIns="0" lIns="0" bIns="0" rIns="0">
            <a:spAutoFit/>
          </a:bodyPr>
          <a:lstStyle/>
          <a:p>
            <a:pPr algn="l">
              <a:lnSpc>
                <a:spcPts val="3779"/>
              </a:lnSpc>
              <a:spcBef>
                <a:spcPct val="0"/>
              </a:spcBef>
            </a:pPr>
            <a:r>
              <a:rPr lang="en-US" sz="2700" b="true">
                <a:solidFill>
                  <a:srgbClr val="FFFFFF"/>
                </a:solidFill>
                <a:latin typeface="Work Sans Bold"/>
                <a:ea typeface="Work Sans Bold"/>
                <a:cs typeface="Work Sans Bold"/>
                <a:sym typeface="Work Sans Bold"/>
              </a:rPr>
              <a:t>Business Impact</a:t>
            </a:r>
          </a:p>
        </p:txBody>
      </p:sp>
      <p:sp>
        <p:nvSpPr>
          <p:cNvPr name="TextBox 18" id="18"/>
          <p:cNvSpPr txBox="true"/>
          <p:nvPr/>
        </p:nvSpPr>
        <p:spPr>
          <a:xfrm rot="0">
            <a:off x="12484150" y="8424428"/>
            <a:ext cx="5130725" cy="1298576"/>
          </a:xfrm>
          <a:prstGeom prst="rect">
            <a:avLst/>
          </a:prstGeom>
        </p:spPr>
        <p:txBody>
          <a:bodyPr anchor="t" rtlCol="false" tIns="0" lIns="0" bIns="0" rIns="0">
            <a:spAutoFit/>
          </a:bodyPr>
          <a:lstStyle/>
          <a:p>
            <a:pPr algn="l">
              <a:lnSpc>
                <a:spcPts val="3499"/>
              </a:lnSpc>
              <a:spcBef>
                <a:spcPct val="0"/>
              </a:spcBef>
            </a:pPr>
            <a:r>
              <a:rPr lang="en-US" sz="2499">
                <a:solidFill>
                  <a:srgbClr val="FFFFFF"/>
                </a:solidFill>
                <a:latin typeface="Work Sans"/>
                <a:ea typeface="Work Sans"/>
                <a:cs typeface="Work Sans"/>
                <a:sym typeface="Work Sans"/>
              </a:rPr>
              <a:t>Target a few high‑margin products to boost ROI and avoid relying on low‑margin volume.</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68540" y="1576359"/>
            <a:ext cx="1030497" cy="1030497"/>
            <a:chOff x="0" y="0"/>
            <a:chExt cx="1373996" cy="1373996"/>
          </a:xfrm>
        </p:grpSpPr>
        <p:grpSp>
          <p:nvGrpSpPr>
            <p:cNvPr name="Group 3" id="3"/>
            <p:cNvGrpSpPr/>
            <p:nvPr/>
          </p:nvGrpSpPr>
          <p:grpSpPr>
            <a:xfrm rot="0">
              <a:off x="0" y="0"/>
              <a:ext cx="1373996" cy="1373996"/>
              <a:chOff x="0" y="0"/>
              <a:chExt cx="364107" cy="364107"/>
            </a:xfrm>
          </p:grpSpPr>
          <p:sp>
            <p:nvSpPr>
              <p:cNvPr name="Freeform 4" id="4"/>
              <p:cNvSpPr/>
              <p:nvPr/>
            </p:nvSpPr>
            <p:spPr>
              <a:xfrm flipH="false" flipV="false" rot="0">
                <a:off x="0" y="0"/>
                <a:ext cx="364107" cy="364107"/>
              </a:xfrm>
              <a:custGeom>
                <a:avLst/>
                <a:gdLst/>
                <a:ahLst/>
                <a:cxnLst/>
                <a:rect r="r" b="b" t="t" l="l"/>
                <a:pathLst>
                  <a:path h="364107" w="364107">
                    <a:moveTo>
                      <a:pt x="182053" y="0"/>
                    </a:moveTo>
                    <a:lnTo>
                      <a:pt x="182053" y="0"/>
                    </a:lnTo>
                    <a:cubicBezTo>
                      <a:pt x="282599" y="0"/>
                      <a:pt x="364107" y="81508"/>
                      <a:pt x="364107" y="182053"/>
                    </a:cubicBezTo>
                    <a:lnTo>
                      <a:pt x="364107" y="182053"/>
                    </a:lnTo>
                    <a:cubicBezTo>
                      <a:pt x="364107" y="230337"/>
                      <a:pt x="344926" y="276643"/>
                      <a:pt x="310784" y="310784"/>
                    </a:cubicBezTo>
                    <a:cubicBezTo>
                      <a:pt x="276643" y="344926"/>
                      <a:pt x="230337" y="364107"/>
                      <a:pt x="182053" y="364107"/>
                    </a:cubicBezTo>
                    <a:lnTo>
                      <a:pt x="182053" y="364107"/>
                    </a:lnTo>
                    <a:cubicBezTo>
                      <a:pt x="133770" y="364107"/>
                      <a:pt x="87464" y="344926"/>
                      <a:pt x="53322" y="310784"/>
                    </a:cubicBezTo>
                    <a:cubicBezTo>
                      <a:pt x="19181" y="276643"/>
                      <a:pt x="0" y="230337"/>
                      <a:pt x="0" y="182053"/>
                    </a:cubicBezTo>
                    <a:lnTo>
                      <a:pt x="0" y="182053"/>
                    </a:lnTo>
                    <a:cubicBezTo>
                      <a:pt x="0" y="133770"/>
                      <a:pt x="19181" y="87464"/>
                      <a:pt x="53322" y="53322"/>
                    </a:cubicBezTo>
                    <a:cubicBezTo>
                      <a:pt x="87464" y="19181"/>
                      <a:pt x="133770" y="0"/>
                      <a:pt x="182053" y="0"/>
                    </a:cubicBezTo>
                    <a:close/>
                  </a:path>
                </a:pathLst>
              </a:custGeom>
              <a:solidFill>
                <a:srgbClr val="000000">
                  <a:alpha val="0"/>
                </a:srgbClr>
              </a:solidFill>
              <a:ln w="19050" cap="rnd">
                <a:solidFill>
                  <a:srgbClr val="412A1D"/>
                </a:solidFill>
                <a:prstDash val="solid"/>
                <a:round/>
              </a:ln>
            </p:spPr>
          </p:sp>
          <p:sp>
            <p:nvSpPr>
              <p:cNvPr name="TextBox 5" id="5"/>
              <p:cNvSpPr txBox="true"/>
              <p:nvPr/>
            </p:nvSpPr>
            <p:spPr>
              <a:xfrm>
                <a:off x="0" y="-28575"/>
                <a:ext cx="364107" cy="392682"/>
              </a:xfrm>
              <a:prstGeom prst="rect">
                <a:avLst/>
              </a:prstGeom>
            </p:spPr>
            <p:txBody>
              <a:bodyPr anchor="ctr" rtlCol="false" tIns="50800" lIns="50800" bIns="50800" rIns="50800"/>
              <a:lstStyle/>
              <a:p>
                <a:pPr algn="ctr">
                  <a:lnSpc>
                    <a:spcPts val="2100"/>
                  </a:lnSpc>
                </a:pPr>
              </a:p>
            </p:txBody>
          </p:sp>
        </p:grpSp>
        <p:sp>
          <p:nvSpPr>
            <p:cNvPr name="TextBox 6" id="6"/>
            <p:cNvSpPr txBox="true"/>
            <p:nvPr/>
          </p:nvSpPr>
          <p:spPr>
            <a:xfrm rot="0">
              <a:off x="125634" y="240908"/>
              <a:ext cx="1122728" cy="806810"/>
            </a:xfrm>
            <a:prstGeom prst="rect">
              <a:avLst/>
            </a:prstGeom>
          </p:spPr>
          <p:txBody>
            <a:bodyPr anchor="t" rtlCol="false" tIns="0" lIns="0" bIns="0" rIns="0">
              <a:spAutoFit/>
            </a:bodyPr>
            <a:lstStyle/>
            <a:p>
              <a:pPr algn="ctr">
                <a:lnSpc>
                  <a:spcPts val="5012"/>
                </a:lnSpc>
                <a:spcBef>
                  <a:spcPct val="0"/>
                </a:spcBef>
              </a:pPr>
              <a:r>
                <a:rPr lang="en-US" b="true" sz="3580">
                  <a:solidFill>
                    <a:srgbClr val="412A1D"/>
                  </a:solidFill>
                  <a:latin typeface="Work Sans Bold"/>
                  <a:ea typeface="Work Sans Bold"/>
                  <a:cs typeface="Work Sans Bold"/>
                  <a:sym typeface="Work Sans Bold"/>
                </a:rPr>
                <a:t>01</a:t>
              </a:r>
            </a:p>
          </p:txBody>
        </p:sp>
      </p:grpSp>
      <p:sp>
        <p:nvSpPr>
          <p:cNvPr name="Freeform 7" id="7"/>
          <p:cNvSpPr/>
          <p:nvPr/>
        </p:nvSpPr>
        <p:spPr>
          <a:xfrm flipH="false" flipV="false" rot="5400000">
            <a:off x="3796472" y="4752308"/>
            <a:ext cx="10695057" cy="374327"/>
          </a:xfrm>
          <a:custGeom>
            <a:avLst/>
            <a:gdLst/>
            <a:ahLst/>
            <a:cxnLst/>
            <a:rect r="r" b="b" t="t" l="l"/>
            <a:pathLst>
              <a:path h="374327" w="10695057">
                <a:moveTo>
                  <a:pt x="0" y="0"/>
                </a:moveTo>
                <a:lnTo>
                  <a:pt x="10695056" y="0"/>
                </a:lnTo>
                <a:lnTo>
                  <a:pt x="10695056" y="374327"/>
                </a:lnTo>
                <a:lnTo>
                  <a:pt x="0" y="37432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8" id="8"/>
          <p:cNvSpPr txBox="true"/>
          <p:nvPr/>
        </p:nvSpPr>
        <p:spPr>
          <a:xfrm rot="0">
            <a:off x="2595478" y="278587"/>
            <a:ext cx="4044255" cy="809625"/>
          </a:xfrm>
          <a:prstGeom prst="rect">
            <a:avLst/>
          </a:prstGeom>
        </p:spPr>
        <p:txBody>
          <a:bodyPr anchor="t" rtlCol="false" tIns="0" lIns="0" bIns="0" rIns="0">
            <a:spAutoFit/>
          </a:bodyPr>
          <a:lstStyle/>
          <a:p>
            <a:pPr algn="l">
              <a:lnSpc>
                <a:spcPts val="6000"/>
              </a:lnSpc>
            </a:pPr>
            <a:r>
              <a:rPr lang="en-US" sz="5000" b="true">
                <a:solidFill>
                  <a:srgbClr val="412A1D"/>
                </a:solidFill>
                <a:latin typeface="Poppins Bold"/>
                <a:ea typeface="Poppins Bold"/>
                <a:cs typeface="Poppins Bold"/>
                <a:sym typeface="Poppins Bold"/>
              </a:rPr>
              <a:t>Conclusions</a:t>
            </a:r>
          </a:p>
        </p:txBody>
      </p:sp>
      <p:sp>
        <p:nvSpPr>
          <p:cNvPr name="TextBox 9" id="9"/>
          <p:cNvSpPr txBox="true"/>
          <p:nvPr/>
        </p:nvSpPr>
        <p:spPr>
          <a:xfrm rot="0">
            <a:off x="2237046" y="1535935"/>
            <a:ext cx="5932734" cy="464820"/>
          </a:xfrm>
          <a:prstGeom prst="rect">
            <a:avLst/>
          </a:prstGeom>
        </p:spPr>
        <p:txBody>
          <a:bodyPr anchor="t" rtlCol="false" tIns="0" lIns="0" bIns="0" rIns="0">
            <a:spAutoFit/>
          </a:bodyPr>
          <a:lstStyle/>
          <a:p>
            <a:pPr algn="l">
              <a:lnSpc>
                <a:spcPts val="3779"/>
              </a:lnSpc>
              <a:spcBef>
                <a:spcPct val="0"/>
              </a:spcBef>
            </a:pPr>
            <a:r>
              <a:rPr lang="en-US" sz="2700" b="true">
                <a:solidFill>
                  <a:srgbClr val="412A1D"/>
                </a:solidFill>
                <a:latin typeface="Work Sans Bold"/>
                <a:ea typeface="Work Sans Bold"/>
                <a:cs typeface="Work Sans Bold"/>
                <a:sym typeface="Work Sans Bold"/>
              </a:rPr>
              <a:t>Conclusion for Factories Finance</a:t>
            </a:r>
          </a:p>
        </p:txBody>
      </p:sp>
      <p:sp>
        <p:nvSpPr>
          <p:cNvPr name="TextBox 10" id="10"/>
          <p:cNvSpPr txBox="true"/>
          <p:nvPr/>
        </p:nvSpPr>
        <p:spPr>
          <a:xfrm rot="0">
            <a:off x="2237046" y="4196644"/>
            <a:ext cx="6129241" cy="464820"/>
          </a:xfrm>
          <a:prstGeom prst="rect">
            <a:avLst/>
          </a:prstGeom>
        </p:spPr>
        <p:txBody>
          <a:bodyPr anchor="t" rtlCol="false" tIns="0" lIns="0" bIns="0" rIns="0">
            <a:spAutoFit/>
          </a:bodyPr>
          <a:lstStyle/>
          <a:p>
            <a:pPr algn="l">
              <a:lnSpc>
                <a:spcPts val="3779"/>
              </a:lnSpc>
              <a:spcBef>
                <a:spcPct val="0"/>
              </a:spcBef>
            </a:pPr>
            <a:r>
              <a:rPr lang="en-US" sz="2700" b="true">
                <a:solidFill>
                  <a:srgbClr val="412A1D"/>
                </a:solidFill>
                <a:latin typeface="Work Sans Bold"/>
                <a:ea typeface="Work Sans Bold"/>
                <a:cs typeface="Work Sans Bold"/>
                <a:sym typeface="Work Sans Bold"/>
              </a:rPr>
              <a:t>C</a:t>
            </a:r>
            <a:r>
              <a:rPr lang="en-US" b="true" sz="2700">
                <a:solidFill>
                  <a:srgbClr val="412A1D"/>
                </a:solidFill>
                <a:latin typeface="Work Sans Bold"/>
                <a:ea typeface="Work Sans Bold"/>
                <a:cs typeface="Work Sans Bold"/>
                <a:sym typeface="Work Sans Bold"/>
              </a:rPr>
              <a:t>onclusion for Product Profitability</a:t>
            </a:r>
          </a:p>
        </p:txBody>
      </p:sp>
      <p:sp>
        <p:nvSpPr>
          <p:cNvPr name="TextBox 11" id="11"/>
          <p:cNvSpPr txBox="true"/>
          <p:nvPr/>
        </p:nvSpPr>
        <p:spPr>
          <a:xfrm rot="0">
            <a:off x="2237046" y="4773271"/>
            <a:ext cx="5932734" cy="1999615"/>
          </a:xfrm>
          <a:prstGeom prst="rect">
            <a:avLst/>
          </a:prstGeom>
        </p:spPr>
        <p:txBody>
          <a:bodyPr anchor="t" rtlCol="false" tIns="0" lIns="0" bIns="0" rIns="0">
            <a:spAutoFit/>
          </a:bodyPr>
          <a:lstStyle/>
          <a:p>
            <a:pPr algn="l">
              <a:lnSpc>
                <a:spcPts val="2659"/>
              </a:lnSpc>
              <a:spcBef>
                <a:spcPct val="0"/>
              </a:spcBef>
            </a:pPr>
            <a:r>
              <a:rPr lang="en-US" sz="1899">
                <a:solidFill>
                  <a:srgbClr val="000000"/>
                </a:solidFill>
                <a:latin typeface="Work Sans"/>
                <a:ea typeface="Work Sans"/>
                <a:cs typeface="Work Sans"/>
                <a:sym typeface="Work Sans"/>
              </a:rPr>
              <a:t>The analysis shows that profitability is highly concentrated in a small group of premium products, especially Wonka Bar variants. These items generate the majority of total gross profit and consistently deliver high profit margins, regardless of volume.</a:t>
            </a:r>
          </a:p>
        </p:txBody>
      </p:sp>
      <p:sp>
        <p:nvSpPr>
          <p:cNvPr name="TextBox 12" id="12"/>
          <p:cNvSpPr txBox="true"/>
          <p:nvPr/>
        </p:nvSpPr>
        <p:spPr>
          <a:xfrm rot="0">
            <a:off x="2237046" y="6925933"/>
            <a:ext cx="5297344" cy="464820"/>
          </a:xfrm>
          <a:prstGeom prst="rect">
            <a:avLst/>
          </a:prstGeom>
        </p:spPr>
        <p:txBody>
          <a:bodyPr anchor="t" rtlCol="false" tIns="0" lIns="0" bIns="0" rIns="0">
            <a:spAutoFit/>
          </a:bodyPr>
          <a:lstStyle/>
          <a:p>
            <a:pPr algn="l">
              <a:lnSpc>
                <a:spcPts val="3779"/>
              </a:lnSpc>
              <a:spcBef>
                <a:spcPct val="0"/>
              </a:spcBef>
            </a:pPr>
            <a:r>
              <a:rPr lang="en-US" sz="2700" b="true">
                <a:solidFill>
                  <a:srgbClr val="412A1D"/>
                </a:solidFill>
                <a:latin typeface="Work Sans Bold"/>
                <a:ea typeface="Work Sans Bold"/>
                <a:cs typeface="Work Sans Bold"/>
                <a:sym typeface="Work Sans Bold"/>
              </a:rPr>
              <a:t>C</a:t>
            </a:r>
            <a:r>
              <a:rPr lang="en-US" b="true" sz="2700">
                <a:solidFill>
                  <a:srgbClr val="412A1D"/>
                </a:solidFill>
                <a:latin typeface="Work Sans Bold"/>
                <a:ea typeface="Work Sans Bold"/>
                <a:cs typeface="Work Sans Bold"/>
                <a:sym typeface="Work Sans Bold"/>
              </a:rPr>
              <a:t>onclusion for Customers</a:t>
            </a:r>
          </a:p>
        </p:txBody>
      </p:sp>
      <p:sp>
        <p:nvSpPr>
          <p:cNvPr name="TextBox 13" id="13"/>
          <p:cNvSpPr txBox="true"/>
          <p:nvPr/>
        </p:nvSpPr>
        <p:spPr>
          <a:xfrm rot="0">
            <a:off x="2237046" y="7426361"/>
            <a:ext cx="5932734" cy="2216785"/>
          </a:xfrm>
          <a:prstGeom prst="rect">
            <a:avLst/>
          </a:prstGeom>
        </p:spPr>
        <p:txBody>
          <a:bodyPr anchor="t" rtlCol="false" tIns="0" lIns="0" bIns="0" rIns="0">
            <a:spAutoFit/>
          </a:bodyPr>
          <a:lstStyle/>
          <a:p>
            <a:pPr algn="l">
              <a:lnSpc>
                <a:spcPts val="2239"/>
              </a:lnSpc>
              <a:spcBef>
                <a:spcPct val="0"/>
              </a:spcBef>
            </a:pPr>
            <a:r>
              <a:rPr lang="en-US" sz="1599">
                <a:solidFill>
                  <a:srgbClr val="000000"/>
                </a:solidFill>
                <a:latin typeface="Work Sans"/>
                <a:ea typeface="Work Sans"/>
                <a:cs typeface="Work Sans"/>
                <a:sym typeface="Work Sans"/>
              </a:rPr>
              <a:t>Customer profitability does not correlate with purchase volume. Instead, it depends on the mix of products purchased. Some customers generate high profit despite lower quantities because they consistently choose premium, high margin items. This highlights the importance of shifting from a volume-driven approach to a value-driven strategy. Identifying high-volume customer segments will help maximise long-term profitability.</a:t>
            </a:r>
          </a:p>
        </p:txBody>
      </p:sp>
      <p:sp>
        <p:nvSpPr>
          <p:cNvPr name="TextBox 14" id="14"/>
          <p:cNvSpPr txBox="true"/>
          <p:nvPr/>
        </p:nvSpPr>
        <p:spPr>
          <a:xfrm rot="0">
            <a:off x="11585929" y="228600"/>
            <a:ext cx="3670961" cy="809625"/>
          </a:xfrm>
          <a:prstGeom prst="rect">
            <a:avLst/>
          </a:prstGeom>
        </p:spPr>
        <p:txBody>
          <a:bodyPr anchor="t" rtlCol="false" tIns="0" lIns="0" bIns="0" rIns="0">
            <a:spAutoFit/>
          </a:bodyPr>
          <a:lstStyle/>
          <a:p>
            <a:pPr algn="l">
              <a:lnSpc>
                <a:spcPts val="6000"/>
              </a:lnSpc>
            </a:pPr>
            <a:r>
              <a:rPr lang="en-US" sz="5000" b="true">
                <a:solidFill>
                  <a:srgbClr val="412A1D"/>
                </a:solidFill>
                <a:latin typeface="Poppins Bold"/>
                <a:ea typeface="Poppins Bold"/>
                <a:cs typeface="Poppins Bold"/>
                <a:sym typeface="Poppins Bold"/>
              </a:rPr>
              <a:t>Limitations</a:t>
            </a:r>
          </a:p>
        </p:txBody>
      </p:sp>
      <p:sp>
        <p:nvSpPr>
          <p:cNvPr name="TextBox 15" id="15"/>
          <p:cNvSpPr txBox="true"/>
          <p:nvPr/>
        </p:nvSpPr>
        <p:spPr>
          <a:xfrm rot="0">
            <a:off x="11249500" y="1409306"/>
            <a:ext cx="4343821" cy="464820"/>
          </a:xfrm>
          <a:prstGeom prst="rect">
            <a:avLst/>
          </a:prstGeom>
        </p:spPr>
        <p:txBody>
          <a:bodyPr anchor="t" rtlCol="false" tIns="0" lIns="0" bIns="0" rIns="0">
            <a:spAutoFit/>
          </a:bodyPr>
          <a:lstStyle/>
          <a:p>
            <a:pPr algn="l">
              <a:lnSpc>
                <a:spcPts val="3779"/>
              </a:lnSpc>
              <a:spcBef>
                <a:spcPct val="0"/>
              </a:spcBef>
            </a:pPr>
            <a:r>
              <a:rPr lang="en-US" sz="2700" b="true">
                <a:solidFill>
                  <a:srgbClr val="412A1D"/>
                </a:solidFill>
                <a:latin typeface="Work Sans Bold"/>
                <a:ea typeface="Work Sans Bold"/>
                <a:cs typeface="Work Sans Bold"/>
                <a:sym typeface="Work Sans Bold"/>
              </a:rPr>
              <a:t>Limitation for Factories</a:t>
            </a:r>
          </a:p>
        </p:txBody>
      </p:sp>
      <p:sp>
        <p:nvSpPr>
          <p:cNvPr name="TextBox 16" id="16"/>
          <p:cNvSpPr txBox="true"/>
          <p:nvPr/>
        </p:nvSpPr>
        <p:spPr>
          <a:xfrm rot="0">
            <a:off x="11249500" y="1945976"/>
            <a:ext cx="6106075" cy="1999615"/>
          </a:xfrm>
          <a:prstGeom prst="rect">
            <a:avLst/>
          </a:prstGeom>
        </p:spPr>
        <p:txBody>
          <a:bodyPr anchor="t" rtlCol="false" tIns="0" lIns="0" bIns="0" rIns="0">
            <a:spAutoFit/>
          </a:bodyPr>
          <a:lstStyle/>
          <a:p>
            <a:pPr algn="l">
              <a:lnSpc>
                <a:spcPts val="2659"/>
              </a:lnSpc>
              <a:spcBef>
                <a:spcPct val="0"/>
              </a:spcBef>
            </a:pPr>
            <a:r>
              <a:rPr lang="en-US" sz="1899">
                <a:solidFill>
                  <a:srgbClr val="000000"/>
                </a:solidFill>
                <a:latin typeface="Work Sans"/>
                <a:ea typeface="Work Sans"/>
                <a:cs typeface="Work Sans"/>
                <a:sym typeface="Work Sans"/>
              </a:rPr>
              <a:t>The analysis is limited because it lacks cost structure details, qualitative insights such as customer preferences and product perception, and does not account for differences in factory size or capacity, which may lead to misleading conclusions.</a:t>
            </a:r>
          </a:p>
        </p:txBody>
      </p:sp>
      <p:sp>
        <p:nvSpPr>
          <p:cNvPr name="TextBox 17" id="17"/>
          <p:cNvSpPr txBox="true"/>
          <p:nvPr/>
        </p:nvSpPr>
        <p:spPr>
          <a:xfrm rot="0">
            <a:off x="11249500" y="4046328"/>
            <a:ext cx="4343821" cy="464820"/>
          </a:xfrm>
          <a:prstGeom prst="rect">
            <a:avLst/>
          </a:prstGeom>
        </p:spPr>
        <p:txBody>
          <a:bodyPr anchor="t" rtlCol="false" tIns="0" lIns="0" bIns="0" rIns="0">
            <a:spAutoFit/>
          </a:bodyPr>
          <a:lstStyle/>
          <a:p>
            <a:pPr algn="l">
              <a:lnSpc>
                <a:spcPts val="3779"/>
              </a:lnSpc>
              <a:spcBef>
                <a:spcPct val="0"/>
              </a:spcBef>
            </a:pPr>
            <a:r>
              <a:rPr lang="en-US" sz="2700" b="true">
                <a:solidFill>
                  <a:srgbClr val="412A1D"/>
                </a:solidFill>
                <a:latin typeface="Work Sans Bold"/>
                <a:ea typeface="Work Sans Bold"/>
                <a:cs typeface="Work Sans Bold"/>
                <a:sym typeface="Work Sans Bold"/>
              </a:rPr>
              <a:t>Lim</a:t>
            </a:r>
            <a:r>
              <a:rPr lang="en-US" b="true" sz="2700">
                <a:solidFill>
                  <a:srgbClr val="412A1D"/>
                </a:solidFill>
                <a:latin typeface="Work Sans Bold"/>
                <a:ea typeface="Work Sans Bold"/>
                <a:cs typeface="Work Sans Bold"/>
                <a:sym typeface="Work Sans Bold"/>
              </a:rPr>
              <a:t>itation for Product</a:t>
            </a:r>
          </a:p>
        </p:txBody>
      </p:sp>
      <p:sp>
        <p:nvSpPr>
          <p:cNvPr name="TextBox 18" id="18"/>
          <p:cNvSpPr txBox="true"/>
          <p:nvPr/>
        </p:nvSpPr>
        <p:spPr>
          <a:xfrm rot="0">
            <a:off x="11249500" y="4577823"/>
            <a:ext cx="6106075" cy="2666365"/>
          </a:xfrm>
          <a:prstGeom prst="rect">
            <a:avLst/>
          </a:prstGeom>
        </p:spPr>
        <p:txBody>
          <a:bodyPr anchor="t" rtlCol="false" tIns="0" lIns="0" bIns="0" rIns="0">
            <a:spAutoFit/>
          </a:bodyPr>
          <a:lstStyle/>
          <a:p>
            <a:pPr algn="l">
              <a:lnSpc>
                <a:spcPts val="2659"/>
              </a:lnSpc>
              <a:spcBef>
                <a:spcPct val="0"/>
              </a:spcBef>
            </a:pPr>
            <a:r>
              <a:rPr lang="en-US" sz="1899">
                <a:solidFill>
                  <a:srgbClr val="000000"/>
                </a:solidFill>
                <a:latin typeface="Work Sans"/>
                <a:ea typeface="Work Sans"/>
                <a:cs typeface="Work Sans"/>
                <a:sym typeface="Work Sans"/>
              </a:rPr>
              <a:t>Product performance may be influences by factores not captured in the data, such as marketing spend, seasonal demand, brand perception or product lifecycle stage. Without visibility into these elements, the analysis reflects financial outcomes but cannot fully explain market dynamics or identify whether low-profit products are inherently weak or simply underpromoted. </a:t>
            </a:r>
          </a:p>
        </p:txBody>
      </p:sp>
      <p:sp>
        <p:nvSpPr>
          <p:cNvPr name="TextBox 19" id="19"/>
          <p:cNvSpPr txBox="true"/>
          <p:nvPr/>
        </p:nvSpPr>
        <p:spPr>
          <a:xfrm rot="0">
            <a:off x="11249500" y="7380175"/>
            <a:ext cx="4343821" cy="464820"/>
          </a:xfrm>
          <a:prstGeom prst="rect">
            <a:avLst/>
          </a:prstGeom>
        </p:spPr>
        <p:txBody>
          <a:bodyPr anchor="t" rtlCol="false" tIns="0" lIns="0" bIns="0" rIns="0">
            <a:spAutoFit/>
          </a:bodyPr>
          <a:lstStyle/>
          <a:p>
            <a:pPr algn="l">
              <a:lnSpc>
                <a:spcPts val="3779"/>
              </a:lnSpc>
              <a:spcBef>
                <a:spcPct val="0"/>
              </a:spcBef>
            </a:pPr>
            <a:r>
              <a:rPr lang="en-US" sz="2700" b="true">
                <a:solidFill>
                  <a:srgbClr val="412A1D"/>
                </a:solidFill>
                <a:latin typeface="Work Sans Bold"/>
                <a:ea typeface="Work Sans Bold"/>
                <a:cs typeface="Work Sans Bold"/>
                <a:sym typeface="Work Sans Bold"/>
              </a:rPr>
              <a:t>Lim</a:t>
            </a:r>
            <a:r>
              <a:rPr lang="en-US" b="true" sz="2700">
                <a:solidFill>
                  <a:srgbClr val="412A1D"/>
                </a:solidFill>
                <a:latin typeface="Work Sans Bold"/>
                <a:ea typeface="Work Sans Bold"/>
                <a:cs typeface="Work Sans Bold"/>
                <a:sym typeface="Work Sans Bold"/>
              </a:rPr>
              <a:t>itation for Customers</a:t>
            </a:r>
          </a:p>
        </p:txBody>
      </p:sp>
      <p:sp>
        <p:nvSpPr>
          <p:cNvPr name="TextBox 20" id="20"/>
          <p:cNvSpPr txBox="true"/>
          <p:nvPr/>
        </p:nvSpPr>
        <p:spPr>
          <a:xfrm rot="0">
            <a:off x="11249500" y="7826927"/>
            <a:ext cx="6106075" cy="1940560"/>
          </a:xfrm>
          <a:prstGeom prst="rect">
            <a:avLst/>
          </a:prstGeom>
        </p:spPr>
        <p:txBody>
          <a:bodyPr anchor="t" rtlCol="false" tIns="0" lIns="0" bIns="0" rIns="0">
            <a:spAutoFit/>
          </a:bodyPr>
          <a:lstStyle/>
          <a:p>
            <a:pPr algn="l">
              <a:lnSpc>
                <a:spcPts val="2239"/>
              </a:lnSpc>
              <a:spcBef>
                <a:spcPct val="0"/>
              </a:spcBef>
            </a:pPr>
            <a:r>
              <a:rPr lang="en-US" sz="1599">
                <a:solidFill>
                  <a:srgbClr val="000000"/>
                </a:solidFill>
                <a:latin typeface="Work Sans"/>
                <a:ea typeface="Work Sans"/>
                <a:cs typeface="Work Sans"/>
                <a:sym typeface="Work Sans"/>
              </a:rPr>
              <a:t>Customer-level insights are limited by the lack of demographic, behavioural or industry information. Without understanding who the customers are or why the choose cerain products, it’s challenging to develop tailored customer strategies. The analysis identifies profitability patterns but cannot determine customers motivations or long-term purchasing potential. </a:t>
            </a:r>
          </a:p>
        </p:txBody>
      </p:sp>
      <p:sp>
        <p:nvSpPr>
          <p:cNvPr name="TextBox 21" id="21"/>
          <p:cNvSpPr txBox="true"/>
          <p:nvPr/>
        </p:nvSpPr>
        <p:spPr>
          <a:xfrm rot="0">
            <a:off x="2237046" y="2024932"/>
            <a:ext cx="5711256" cy="1999615"/>
          </a:xfrm>
          <a:prstGeom prst="rect">
            <a:avLst/>
          </a:prstGeom>
        </p:spPr>
        <p:txBody>
          <a:bodyPr anchor="t" rtlCol="false" tIns="0" lIns="0" bIns="0" rIns="0">
            <a:spAutoFit/>
          </a:bodyPr>
          <a:lstStyle/>
          <a:p>
            <a:pPr algn="l">
              <a:lnSpc>
                <a:spcPts val="2659"/>
              </a:lnSpc>
              <a:spcBef>
                <a:spcPct val="0"/>
              </a:spcBef>
            </a:pPr>
            <a:r>
              <a:rPr lang="en-US" sz="1899">
                <a:solidFill>
                  <a:srgbClr val="000000"/>
                </a:solidFill>
                <a:latin typeface="Work Sans"/>
                <a:ea typeface="Work Sans"/>
                <a:cs typeface="Work Sans"/>
                <a:sym typeface="Work Sans"/>
              </a:rPr>
              <a:t>The diagram shows that profits are heavily concentrated in two factories, creating strong performance but also increasing risk. To ensure sustainable growth, the business should improve or rationalize weaker factories while continuing to support its top performers.</a:t>
            </a:r>
          </a:p>
        </p:txBody>
      </p:sp>
      <p:grpSp>
        <p:nvGrpSpPr>
          <p:cNvPr name="Group 22" id="22"/>
          <p:cNvGrpSpPr/>
          <p:nvPr/>
        </p:nvGrpSpPr>
        <p:grpSpPr>
          <a:xfrm rot="0">
            <a:off x="868540" y="4184315"/>
            <a:ext cx="1030497" cy="1030497"/>
            <a:chOff x="0" y="0"/>
            <a:chExt cx="1373996" cy="1373996"/>
          </a:xfrm>
        </p:grpSpPr>
        <p:grpSp>
          <p:nvGrpSpPr>
            <p:cNvPr name="Group 23" id="23"/>
            <p:cNvGrpSpPr/>
            <p:nvPr/>
          </p:nvGrpSpPr>
          <p:grpSpPr>
            <a:xfrm rot="0">
              <a:off x="0" y="0"/>
              <a:ext cx="1373996" cy="1373996"/>
              <a:chOff x="0" y="0"/>
              <a:chExt cx="364107" cy="364107"/>
            </a:xfrm>
          </p:grpSpPr>
          <p:sp>
            <p:nvSpPr>
              <p:cNvPr name="Freeform 24" id="24"/>
              <p:cNvSpPr/>
              <p:nvPr/>
            </p:nvSpPr>
            <p:spPr>
              <a:xfrm flipH="false" flipV="false" rot="0">
                <a:off x="0" y="0"/>
                <a:ext cx="364107" cy="364107"/>
              </a:xfrm>
              <a:custGeom>
                <a:avLst/>
                <a:gdLst/>
                <a:ahLst/>
                <a:cxnLst/>
                <a:rect r="r" b="b" t="t" l="l"/>
                <a:pathLst>
                  <a:path h="364107" w="364107">
                    <a:moveTo>
                      <a:pt x="182053" y="0"/>
                    </a:moveTo>
                    <a:lnTo>
                      <a:pt x="182053" y="0"/>
                    </a:lnTo>
                    <a:cubicBezTo>
                      <a:pt x="282599" y="0"/>
                      <a:pt x="364107" y="81508"/>
                      <a:pt x="364107" y="182053"/>
                    </a:cubicBezTo>
                    <a:lnTo>
                      <a:pt x="364107" y="182053"/>
                    </a:lnTo>
                    <a:cubicBezTo>
                      <a:pt x="364107" y="230337"/>
                      <a:pt x="344926" y="276643"/>
                      <a:pt x="310784" y="310784"/>
                    </a:cubicBezTo>
                    <a:cubicBezTo>
                      <a:pt x="276643" y="344926"/>
                      <a:pt x="230337" y="364107"/>
                      <a:pt x="182053" y="364107"/>
                    </a:cubicBezTo>
                    <a:lnTo>
                      <a:pt x="182053" y="364107"/>
                    </a:lnTo>
                    <a:cubicBezTo>
                      <a:pt x="133770" y="364107"/>
                      <a:pt x="87464" y="344926"/>
                      <a:pt x="53322" y="310784"/>
                    </a:cubicBezTo>
                    <a:cubicBezTo>
                      <a:pt x="19181" y="276643"/>
                      <a:pt x="0" y="230337"/>
                      <a:pt x="0" y="182053"/>
                    </a:cubicBezTo>
                    <a:lnTo>
                      <a:pt x="0" y="182053"/>
                    </a:lnTo>
                    <a:cubicBezTo>
                      <a:pt x="0" y="133770"/>
                      <a:pt x="19181" y="87464"/>
                      <a:pt x="53322" y="53322"/>
                    </a:cubicBezTo>
                    <a:cubicBezTo>
                      <a:pt x="87464" y="19181"/>
                      <a:pt x="133770" y="0"/>
                      <a:pt x="182053" y="0"/>
                    </a:cubicBezTo>
                    <a:close/>
                  </a:path>
                </a:pathLst>
              </a:custGeom>
              <a:solidFill>
                <a:srgbClr val="000000">
                  <a:alpha val="0"/>
                </a:srgbClr>
              </a:solidFill>
              <a:ln w="19050" cap="rnd">
                <a:solidFill>
                  <a:srgbClr val="412A1D"/>
                </a:solidFill>
                <a:prstDash val="solid"/>
                <a:round/>
              </a:ln>
            </p:spPr>
          </p:sp>
          <p:sp>
            <p:nvSpPr>
              <p:cNvPr name="TextBox 25" id="25"/>
              <p:cNvSpPr txBox="true"/>
              <p:nvPr/>
            </p:nvSpPr>
            <p:spPr>
              <a:xfrm>
                <a:off x="0" y="-28575"/>
                <a:ext cx="364107" cy="392682"/>
              </a:xfrm>
              <a:prstGeom prst="rect">
                <a:avLst/>
              </a:prstGeom>
            </p:spPr>
            <p:txBody>
              <a:bodyPr anchor="ctr" rtlCol="false" tIns="50800" lIns="50800" bIns="50800" rIns="50800"/>
              <a:lstStyle/>
              <a:p>
                <a:pPr algn="ctr">
                  <a:lnSpc>
                    <a:spcPts val="2100"/>
                  </a:lnSpc>
                </a:pPr>
              </a:p>
            </p:txBody>
          </p:sp>
        </p:grpSp>
        <p:sp>
          <p:nvSpPr>
            <p:cNvPr name="TextBox 26" id="26"/>
            <p:cNvSpPr txBox="true"/>
            <p:nvPr/>
          </p:nvSpPr>
          <p:spPr>
            <a:xfrm rot="0">
              <a:off x="125634" y="240908"/>
              <a:ext cx="1122728" cy="806810"/>
            </a:xfrm>
            <a:prstGeom prst="rect">
              <a:avLst/>
            </a:prstGeom>
          </p:spPr>
          <p:txBody>
            <a:bodyPr anchor="t" rtlCol="false" tIns="0" lIns="0" bIns="0" rIns="0">
              <a:spAutoFit/>
            </a:bodyPr>
            <a:lstStyle/>
            <a:p>
              <a:pPr algn="ctr">
                <a:lnSpc>
                  <a:spcPts val="5012"/>
                </a:lnSpc>
                <a:spcBef>
                  <a:spcPct val="0"/>
                </a:spcBef>
              </a:pPr>
              <a:r>
                <a:rPr lang="en-US" b="true" sz="3580">
                  <a:solidFill>
                    <a:srgbClr val="412A1D"/>
                  </a:solidFill>
                  <a:latin typeface="Work Sans Bold"/>
                  <a:ea typeface="Work Sans Bold"/>
                  <a:cs typeface="Work Sans Bold"/>
                  <a:sym typeface="Work Sans Bold"/>
                </a:rPr>
                <a:t>02</a:t>
              </a:r>
            </a:p>
          </p:txBody>
        </p:sp>
      </p:grpSp>
      <p:grpSp>
        <p:nvGrpSpPr>
          <p:cNvPr name="Group 27" id="27"/>
          <p:cNvGrpSpPr/>
          <p:nvPr/>
        </p:nvGrpSpPr>
        <p:grpSpPr>
          <a:xfrm rot="0">
            <a:off x="868540" y="7096431"/>
            <a:ext cx="1030497" cy="1030497"/>
            <a:chOff x="0" y="0"/>
            <a:chExt cx="1373996" cy="1373996"/>
          </a:xfrm>
        </p:grpSpPr>
        <p:grpSp>
          <p:nvGrpSpPr>
            <p:cNvPr name="Group 28" id="28"/>
            <p:cNvGrpSpPr/>
            <p:nvPr/>
          </p:nvGrpSpPr>
          <p:grpSpPr>
            <a:xfrm rot="0">
              <a:off x="0" y="0"/>
              <a:ext cx="1373996" cy="1373996"/>
              <a:chOff x="0" y="0"/>
              <a:chExt cx="364107" cy="364107"/>
            </a:xfrm>
          </p:grpSpPr>
          <p:sp>
            <p:nvSpPr>
              <p:cNvPr name="Freeform 29" id="29"/>
              <p:cNvSpPr/>
              <p:nvPr/>
            </p:nvSpPr>
            <p:spPr>
              <a:xfrm flipH="false" flipV="false" rot="0">
                <a:off x="0" y="0"/>
                <a:ext cx="364107" cy="364107"/>
              </a:xfrm>
              <a:custGeom>
                <a:avLst/>
                <a:gdLst/>
                <a:ahLst/>
                <a:cxnLst/>
                <a:rect r="r" b="b" t="t" l="l"/>
                <a:pathLst>
                  <a:path h="364107" w="364107">
                    <a:moveTo>
                      <a:pt x="182053" y="0"/>
                    </a:moveTo>
                    <a:lnTo>
                      <a:pt x="182053" y="0"/>
                    </a:lnTo>
                    <a:cubicBezTo>
                      <a:pt x="282599" y="0"/>
                      <a:pt x="364107" y="81508"/>
                      <a:pt x="364107" y="182053"/>
                    </a:cubicBezTo>
                    <a:lnTo>
                      <a:pt x="364107" y="182053"/>
                    </a:lnTo>
                    <a:cubicBezTo>
                      <a:pt x="364107" y="230337"/>
                      <a:pt x="344926" y="276643"/>
                      <a:pt x="310784" y="310784"/>
                    </a:cubicBezTo>
                    <a:cubicBezTo>
                      <a:pt x="276643" y="344926"/>
                      <a:pt x="230337" y="364107"/>
                      <a:pt x="182053" y="364107"/>
                    </a:cubicBezTo>
                    <a:lnTo>
                      <a:pt x="182053" y="364107"/>
                    </a:lnTo>
                    <a:cubicBezTo>
                      <a:pt x="133770" y="364107"/>
                      <a:pt x="87464" y="344926"/>
                      <a:pt x="53322" y="310784"/>
                    </a:cubicBezTo>
                    <a:cubicBezTo>
                      <a:pt x="19181" y="276643"/>
                      <a:pt x="0" y="230337"/>
                      <a:pt x="0" y="182053"/>
                    </a:cubicBezTo>
                    <a:lnTo>
                      <a:pt x="0" y="182053"/>
                    </a:lnTo>
                    <a:cubicBezTo>
                      <a:pt x="0" y="133770"/>
                      <a:pt x="19181" y="87464"/>
                      <a:pt x="53322" y="53322"/>
                    </a:cubicBezTo>
                    <a:cubicBezTo>
                      <a:pt x="87464" y="19181"/>
                      <a:pt x="133770" y="0"/>
                      <a:pt x="182053" y="0"/>
                    </a:cubicBezTo>
                    <a:close/>
                  </a:path>
                </a:pathLst>
              </a:custGeom>
              <a:solidFill>
                <a:srgbClr val="000000">
                  <a:alpha val="0"/>
                </a:srgbClr>
              </a:solidFill>
              <a:ln w="19050" cap="rnd">
                <a:solidFill>
                  <a:srgbClr val="412A1D"/>
                </a:solidFill>
                <a:prstDash val="solid"/>
                <a:round/>
              </a:ln>
            </p:spPr>
          </p:sp>
          <p:sp>
            <p:nvSpPr>
              <p:cNvPr name="TextBox 30" id="30"/>
              <p:cNvSpPr txBox="true"/>
              <p:nvPr/>
            </p:nvSpPr>
            <p:spPr>
              <a:xfrm>
                <a:off x="0" y="-28575"/>
                <a:ext cx="364107" cy="392682"/>
              </a:xfrm>
              <a:prstGeom prst="rect">
                <a:avLst/>
              </a:prstGeom>
            </p:spPr>
            <p:txBody>
              <a:bodyPr anchor="ctr" rtlCol="false" tIns="50800" lIns="50800" bIns="50800" rIns="50800"/>
              <a:lstStyle/>
              <a:p>
                <a:pPr algn="ctr">
                  <a:lnSpc>
                    <a:spcPts val="2100"/>
                  </a:lnSpc>
                </a:pPr>
              </a:p>
            </p:txBody>
          </p:sp>
        </p:grpSp>
        <p:sp>
          <p:nvSpPr>
            <p:cNvPr name="TextBox 31" id="31"/>
            <p:cNvSpPr txBox="true"/>
            <p:nvPr/>
          </p:nvSpPr>
          <p:spPr>
            <a:xfrm rot="0">
              <a:off x="125634" y="240908"/>
              <a:ext cx="1122728" cy="806810"/>
            </a:xfrm>
            <a:prstGeom prst="rect">
              <a:avLst/>
            </a:prstGeom>
          </p:spPr>
          <p:txBody>
            <a:bodyPr anchor="t" rtlCol="false" tIns="0" lIns="0" bIns="0" rIns="0">
              <a:spAutoFit/>
            </a:bodyPr>
            <a:lstStyle/>
            <a:p>
              <a:pPr algn="ctr">
                <a:lnSpc>
                  <a:spcPts val="5012"/>
                </a:lnSpc>
                <a:spcBef>
                  <a:spcPct val="0"/>
                </a:spcBef>
              </a:pPr>
              <a:r>
                <a:rPr lang="en-US" b="true" sz="3580">
                  <a:solidFill>
                    <a:srgbClr val="412A1D"/>
                  </a:solidFill>
                  <a:latin typeface="Work Sans Bold"/>
                  <a:ea typeface="Work Sans Bold"/>
                  <a:cs typeface="Work Sans Bold"/>
                  <a:sym typeface="Work Sans Bold"/>
                </a:rPr>
                <a:t>03</a:t>
              </a:r>
            </a:p>
          </p:txBody>
        </p:sp>
      </p:grpSp>
      <p:grpSp>
        <p:nvGrpSpPr>
          <p:cNvPr name="Group 32" id="32"/>
          <p:cNvGrpSpPr/>
          <p:nvPr/>
        </p:nvGrpSpPr>
        <p:grpSpPr>
          <a:xfrm rot="0">
            <a:off x="9964860" y="1447406"/>
            <a:ext cx="1030497" cy="1030497"/>
            <a:chOff x="0" y="0"/>
            <a:chExt cx="1373996" cy="1373996"/>
          </a:xfrm>
        </p:grpSpPr>
        <p:grpSp>
          <p:nvGrpSpPr>
            <p:cNvPr name="Group 33" id="33"/>
            <p:cNvGrpSpPr/>
            <p:nvPr/>
          </p:nvGrpSpPr>
          <p:grpSpPr>
            <a:xfrm rot="0">
              <a:off x="0" y="0"/>
              <a:ext cx="1373996" cy="1373996"/>
              <a:chOff x="0" y="0"/>
              <a:chExt cx="364107" cy="364107"/>
            </a:xfrm>
          </p:grpSpPr>
          <p:sp>
            <p:nvSpPr>
              <p:cNvPr name="Freeform 34" id="34"/>
              <p:cNvSpPr/>
              <p:nvPr/>
            </p:nvSpPr>
            <p:spPr>
              <a:xfrm flipH="false" flipV="false" rot="0">
                <a:off x="0" y="0"/>
                <a:ext cx="364107" cy="364107"/>
              </a:xfrm>
              <a:custGeom>
                <a:avLst/>
                <a:gdLst/>
                <a:ahLst/>
                <a:cxnLst/>
                <a:rect r="r" b="b" t="t" l="l"/>
                <a:pathLst>
                  <a:path h="364107" w="364107">
                    <a:moveTo>
                      <a:pt x="182053" y="0"/>
                    </a:moveTo>
                    <a:lnTo>
                      <a:pt x="182053" y="0"/>
                    </a:lnTo>
                    <a:cubicBezTo>
                      <a:pt x="282599" y="0"/>
                      <a:pt x="364107" y="81508"/>
                      <a:pt x="364107" y="182053"/>
                    </a:cubicBezTo>
                    <a:lnTo>
                      <a:pt x="364107" y="182053"/>
                    </a:lnTo>
                    <a:cubicBezTo>
                      <a:pt x="364107" y="230337"/>
                      <a:pt x="344926" y="276643"/>
                      <a:pt x="310784" y="310784"/>
                    </a:cubicBezTo>
                    <a:cubicBezTo>
                      <a:pt x="276643" y="344926"/>
                      <a:pt x="230337" y="364107"/>
                      <a:pt x="182053" y="364107"/>
                    </a:cubicBezTo>
                    <a:lnTo>
                      <a:pt x="182053" y="364107"/>
                    </a:lnTo>
                    <a:cubicBezTo>
                      <a:pt x="133770" y="364107"/>
                      <a:pt x="87464" y="344926"/>
                      <a:pt x="53322" y="310784"/>
                    </a:cubicBezTo>
                    <a:cubicBezTo>
                      <a:pt x="19181" y="276643"/>
                      <a:pt x="0" y="230337"/>
                      <a:pt x="0" y="182053"/>
                    </a:cubicBezTo>
                    <a:lnTo>
                      <a:pt x="0" y="182053"/>
                    </a:lnTo>
                    <a:cubicBezTo>
                      <a:pt x="0" y="133770"/>
                      <a:pt x="19181" y="87464"/>
                      <a:pt x="53322" y="53322"/>
                    </a:cubicBezTo>
                    <a:cubicBezTo>
                      <a:pt x="87464" y="19181"/>
                      <a:pt x="133770" y="0"/>
                      <a:pt x="182053" y="0"/>
                    </a:cubicBezTo>
                    <a:close/>
                  </a:path>
                </a:pathLst>
              </a:custGeom>
              <a:solidFill>
                <a:srgbClr val="000000">
                  <a:alpha val="0"/>
                </a:srgbClr>
              </a:solidFill>
              <a:ln w="19050" cap="rnd">
                <a:solidFill>
                  <a:srgbClr val="412A1D"/>
                </a:solidFill>
                <a:prstDash val="solid"/>
                <a:round/>
              </a:ln>
            </p:spPr>
          </p:sp>
          <p:sp>
            <p:nvSpPr>
              <p:cNvPr name="TextBox 35" id="35"/>
              <p:cNvSpPr txBox="true"/>
              <p:nvPr/>
            </p:nvSpPr>
            <p:spPr>
              <a:xfrm>
                <a:off x="0" y="-28575"/>
                <a:ext cx="364107" cy="392682"/>
              </a:xfrm>
              <a:prstGeom prst="rect">
                <a:avLst/>
              </a:prstGeom>
            </p:spPr>
            <p:txBody>
              <a:bodyPr anchor="ctr" rtlCol="false" tIns="50800" lIns="50800" bIns="50800" rIns="50800"/>
              <a:lstStyle/>
              <a:p>
                <a:pPr algn="ctr">
                  <a:lnSpc>
                    <a:spcPts val="2100"/>
                  </a:lnSpc>
                </a:pPr>
              </a:p>
            </p:txBody>
          </p:sp>
        </p:grpSp>
        <p:sp>
          <p:nvSpPr>
            <p:cNvPr name="TextBox 36" id="36"/>
            <p:cNvSpPr txBox="true"/>
            <p:nvPr/>
          </p:nvSpPr>
          <p:spPr>
            <a:xfrm rot="0">
              <a:off x="125634" y="240908"/>
              <a:ext cx="1122728" cy="806810"/>
            </a:xfrm>
            <a:prstGeom prst="rect">
              <a:avLst/>
            </a:prstGeom>
          </p:spPr>
          <p:txBody>
            <a:bodyPr anchor="t" rtlCol="false" tIns="0" lIns="0" bIns="0" rIns="0">
              <a:spAutoFit/>
            </a:bodyPr>
            <a:lstStyle/>
            <a:p>
              <a:pPr algn="ctr">
                <a:lnSpc>
                  <a:spcPts val="5012"/>
                </a:lnSpc>
                <a:spcBef>
                  <a:spcPct val="0"/>
                </a:spcBef>
              </a:pPr>
              <a:r>
                <a:rPr lang="en-US" b="true" sz="3580">
                  <a:solidFill>
                    <a:srgbClr val="412A1D"/>
                  </a:solidFill>
                  <a:latin typeface="Work Sans Bold"/>
                  <a:ea typeface="Work Sans Bold"/>
                  <a:cs typeface="Work Sans Bold"/>
                  <a:sym typeface="Work Sans Bold"/>
                </a:rPr>
                <a:t>01</a:t>
              </a:r>
            </a:p>
          </p:txBody>
        </p:sp>
      </p:grpSp>
      <p:grpSp>
        <p:nvGrpSpPr>
          <p:cNvPr name="Group 37" id="37"/>
          <p:cNvGrpSpPr/>
          <p:nvPr/>
        </p:nvGrpSpPr>
        <p:grpSpPr>
          <a:xfrm rot="0">
            <a:off x="9983910" y="4084428"/>
            <a:ext cx="1030497" cy="1030497"/>
            <a:chOff x="0" y="0"/>
            <a:chExt cx="1373996" cy="1373996"/>
          </a:xfrm>
        </p:grpSpPr>
        <p:grpSp>
          <p:nvGrpSpPr>
            <p:cNvPr name="Group 38" id="38"/>
            <p:cNvGrpSpPr/>
            <p:nvPr/>
          </p:nvGrpSpPr>
          <p:grpSpPr>
            <a:xfrm rot="0">
              <a:off x="0" y="0"/>
              <a:ext cx="1373996" cy="1373996"/>
              <a:chOff x="0" y="0"/>
              <a:chExt cx="364107" cy="364107"/>
            </a:xfrm>
          </p:grpSpPr>
          <p:sp>
            <p:nvSpPr>
              <p:cNvPr name="Freeform 39" id="39"/>
              <p:cNvSpPr/>
              <p:nvPr/>
            </p:nvSpPr>
            <p:spPr>
              <a:xfrm flipH="false" flipV="false" rot="0">
                <a:off x="0" y="0"/>
                <a:ext cx="364107" cy="364107"/>
              </a:xfrm>
              <a:custGeom>
                <a:avLst/>
                <a:gdLst/>
                <a:ahLst/>
                <a:cxnLst/>
                <a:rect r="r" b="b" t="t" l="l"/>
                <a:pathLst>
                  <a:path h="364107" w="364107">
                    <a:moveTo>
                      <a:pt x="182053" y="0"/>
                    </a:moveTo>
                    <a:lnTo>
                      <a:pt x="182053" y="0"/>
                    </a:lnTo>
                    <a:cubicBezTo>
                      <a:pt x="282599" y="0"/>
                      <a:pt x="364107" y="81508"/>
                      <a:pt x="364107" y="182053"/>
                    </a:cubicBezTo>
                    <a:lnTo>
                      <a:pt x="364107" y="182053"/>
                    </a:lnTo>
                    <a:cubicBezTo>
                      <a:pt x="364107" y="230337"/>
                      <a:pt x="344926" y="276643"/>
                      <a:pt x="310784" y="310784"/>
                    </a:cubicBezTo>
                    <a:cubicBezTo>
                      <a:pt x="276643" y="344926"/>
                      <a:pt x="230337" y="364107"/>
                      <a:pt x="182053" y="364107"/>
                    </a:cubicBezTo>
                    <a:lnTo>
                      <a:pt x="182053" y="364107"/>
                    </a:lnTo>
                    <a:cubicBezTo>
                      <a:pt x="133770" y="364107"/>
                      <a:pt x="87464" y="344926"/>
                      <a:pt x="53322" y="310784"/>
                    </a:cubicBezTo>
                    <a:cubicBezTo>
                      <a:pt x="19181" y="276643"/>
                      <a:pt x="0" y="230337"/>
                      <a:pt x="0" y="182053"/>
                    </a:cubicBezTo>
                    <a:lnTo>
                      <a:pt x="0" y="182053"/>
                    </a:lnTo>
                    <a:cubicBezTo>
                      <a:pt x="0" y="133770"/>
                      <a:pt x="19181" y="87464"/>
                      <a:pt x="53322" y="53322"/>
                    </a:cubicBezTo>
                    <a:cubicBezTo>
                      <a:pt x="87464" y="19181"/>
                      <a:pt x="133770" y="0"/>
                      <a:pt x="182053" y="0"/>
                    </a:cubicBezTo>
                    <a:close/>
                  </a:path>
                </a:pathLst>
              </a:custGeom>
              <a:solidFill>
                <a:srgbClr val="000000">
                  <a:alpha val="0"/>
                </a:srgbClr>
              </a:solidFill>
              <a:ln w="19050" cap="rnd">
                <a:solidFill>
                  <a:srgbClr val="412A1D"/>
                </a:solidFill>
                <a:prstDash val="solid"/>
                <a:round/>
              </a:ln>
            </p:spPr>
          </p:sp>
          <p:sp>
            <p:nvSpPr>
              <p:cNvPr name="TextBox 40" id="40"/>
              <p:cNvSpPr txBox="true"/>
              <p:nvPr/>
            </p:nvSpPr>
            <p:spPr>
              <a:xfrm>
                <a:off x="0" y="-28575"/>
                <a:ext cx="364107" cy="392682"/>
              </a:xfrm>
              <a:prstGeom prst="rect">
                <a:avLst/>
              </a:prstGeom>
            </p:spPr>
            <p:txBody>
              <a:bodyPr anchor="ctr" rtlCol="false" tIns="50800" lIns="50800" bIns="50800" rIns="50800"/>
              <a:lstStyle/>
              <a:p>
                <a:pPr algn="ctr">
                  <a:lnSpc>
                    <a:spcPts val="2100"/>
                  </a:lnSpc>
                </a:pPr>
              </a:p>
            </p:txBody>
          </p:sp>
        </p:grpSp>
        <p:sp>
          <p:nvSpPr>
            <p:cNvPr name="TextBox 41" id="41"/>
            <p:cNvSpPr txBox="true"/>
            <p:nvPr/>
          </p:nvSpPr>
          <p:spPr>
            <a:xfrm rot="0">
              <a:off x="125634" y="240908"/>
              <a:ext cx="1122728" cy="806810"/>
            </a:xfrm>
            <a:prstGeom prst="rect">
              <a:avLst/>
            </a:prstGeom>
          </p:spPr>
          <p:txBody>
            <a:bodyPr anchor="t" rtlCol="false" tIns="0" lIns="0" bIns="0" rIns="0">
              <a:spAutoFit/>
            </a:bodyPr>
            <a:lstStyle/>
            <a:p>
              <a:pPr algn="ctr">
                <a:lnSpc>
                  <a:spcPts val="5012"/>
                </a:lnSpc>
                <a:spcBef>
                  <a:spcPct val="0"/>
                </a:spcBef>
              </a:pPr>
              <a:r>
                <a:rPr lang="en-US" b="true" sz="3580">
                  <a:solidFill>
                    <a:srgbClr val="412A1D"/>
                  </a:solidFill>
                  <a:latin typeface="Work Sans Bold"/>
                  <a:ea typeface="Work Sans Bold"/>
                  <a:cs typeface="Work Sans Bold"/>
                  <a:sym typeface="Work Sans Bold"/>
                </a:rPr>
                <a:t>02</a:t>
              </a:r>
            </a:p>
          </p:txBody>
        </p:sp>
      </p:grpSp>
      <p:grpSp>
        <p:nvGrpSpPr>
          <p:cNvPr name="Group 42" id="42"/>
          <p:cNvGrpSpPr/>
          <p:nvPr/>
        </p:nvGrpSpPr>
        <p:grpSpPr>
          <a:xfrm rot="0">
            <a:off x="9964860" y="7327662"/>
            <a:ext cx="1030497" cy="1030497"/>
            <a:chOff x="0" y="0"/>
            <a:chExt cx="1373996" cy="1373996"/>
          </a:xfrm>
        </p:grpSpPr>
        <p:grpSp>
          <p:nvGrpSpPr>
            <p:cNvPr name="Group 43" id="43"/>
            <p:cNvGrpSpPr/>
            <p:nvPr/>
          </p:nvGrpSpPr>
          <p:grpSpPr>
            <a:xfrm rot="0">
              <a:off x="0" y="0"/>
              <a:ext cx="1373996" cy="1373996"/>
              <a:chOff x="0" y="0"/>
              <a:chExt cx="364107" cy="364107"/>
            </a:xfrm>
          </p:grpSpPr>
          <p:sp>
            <p:nvSpPr>
              <p:cNvPr name="Freeform 44" id="44"/>
              <p:cNvSpPr/>
              <p:nvPr/>
            </p:nvSpPr>
            <p:spPr>
              <a:xfrm flipH="false" flipV="false" rot="0">
                <a:off x="0" y="0"/>
                <a:ext cx="364107" cy="364107"/>
              </a:xfrm>
              <a:custGeom>
                <a:avLst/>
                <a:gdLst/>
                <a:ahLst/>
                <a:cxnLst/>
                <a:rect r="r" b="b" t="t" l="l"/>
                <a:pathLst>
                  <a:path h="364107" w="364107">
                    <a:moveTo>
                      <a:pt x="182053" y="0"/>
                    </a:moveTo>
                    <a:lnTo>
                      <a:pt x="182053" y="0"/>
                    </a:lnTo>
                    <a:cubicBezTo>
                      <a:pt x="282599" y="0"/>
                      <a:pt x="364107" y="81508"/>
                      <a:pt x="364107" y="182053"/>
                    </a:cubicBezTo>
                    <a:lnTo>
                      <a:pt x="364107" y="182053"/>
                    </a:lnTo>
                    <a:cubicBezTo>
                      <a:pt x="364107" y="230337"/>
                      <a:pt x="344926" y="276643"/>
                      <a:pt x="310784" y="310784"/>
                    </a:cubicBezTo>
                    <a:cubicBezTo>
                      <a:pt x="276643" y="344926"/>
                      <a:pt x="230337" y="364107"/>
                      <a:pt x="182053" y="364107"/>
                    </a:cubicBezTo>
                    <a:lnTo>
                      <a:pt x="182053" y="364107"/>
                    </a:lnTo>
                    <a:cubicBezTo>
                      <a:pt x="133770" y="364107"/>
                      <a:pt x="87464" y="344926"/>
                      <a:pt x="53322" y="310784"/>
                    </a:cubicBezTo>
                    <a:cubicBezTo>
                      <a:pt x="19181" y="276643"/>
                      <a:pt x="0" y="230337"/>
                      <a:pt x="0" y="182053"/>
                    </a:cubicBezTo>
                    <a:lnTo>
                      <a:pt x="0" y="182053"/>
                    </a:lnTo>
                    <a:cubicBezTo>
                      <a:pt x="0" y="133770"/>
                      <a:pt x="19181" y="87464"/>
                      <a:pt x="53322" y="53322"/>
                    </a:cubicBezTo>
                    <a:cubicBezTo>
                      <a:pt x="87464" y="19181"/>
                      <a:pt x="133770" y="0"/>
                      <a:pt x="182053" y="0"/>
                    </a:cubicBezTo>
                    <a:close/>
                  </a:path>
                </a:pathLst>
              </a:custGeom>
              <a:solidFill>
                <a:srgbClr val="000000">
                  <a:alpha val="0"/>
                </a:srgbClr>
              </a:solidFill>
              <a:ln w="19050" cap="rnd">
                <a:solidFill>
                  <a:srgbClr val="412A1D"/>
                </a:solidFill>
                <a:prstDash val="solid"/>
                <a:round/>
              </a:ln>
            </p:spPr>
          </p:sp>
          <p:sp>
            <p:nvSpPr>
              <p:cNvPr name="TextBox 45" id="45"/>
              <p:cNvSpPr txBox="true"/>
              <p:nvPr/>
            </p:nvSpPr>
            <p:spPr>
              <a:xfrm>
                <a:off x="0" y="-28575"/>
                <a:ext cx="364107" cy="392682"/>
              </a:xfrm>
              <a:prstGeom prst="rect">
                <a:avLst/>
              </a:prstGeom>
            </p:spPr>
            <p:txBody>
              <a:bodyPr anchor="ctr" rtlCol="false" tIns="50800" lIns="50800" bIns="50800" rIns="50800"/>
              <a:lstStyle/>
              <a:p>
                <a:pPr algn="ctr">
                  <a:lnSpc>
                    <a:spcPts val="2100"/>
                  </a:lnSpc>
                </a:pPr>
              </a:p>
            </p:txBody>
          </p:sp>
        </p:grpSp>
        <p:sp>
          <p:nvSpPr>
            <p:cNvPr name="TextBox 46" id="46"/>
            <p:cNvSpPr txBox="true"/>
            <p:nvPr/>
          </p:nvSpPr>
          <p:spPr>
            <a:xfrm rot="0">
              <a:off x="125634" y="240908"/>
              <a:ext cx="1122728" cy="806810"/>
            </a:xfrm>
            <a:prstGeom prst="rect">
              <a:avLst/>
            </a:prstGeom>
          </p:spPr>
          <p:txBody>
            <a:bodyPr anchor="t" rtlCol="false" tIns="0" lIns="0" bIns="0" rIns="0">
              <a:spAutoFit/>
            </a:bodyPr>
            <a:lstStyle/>
            <a:p>
              <a:pPr algn="ctr">
                <a:lnSpc>
                  <a:spcPts val="5012"/>
                </a:lnSpc>
                <a:spcBef>
                  <a:spcPct val="0"/>
                </a:spcBef>
              </a:pPr>
              <a:r>
                <a:rPr lang="en-US" b="true" sz="3580">
                  <a:solidFill>
                    <a:srgbClr val="412A1D"/>
                  </a:solidFill>
                  <a:latin typeface="Work Sans Bold"/>
                  <a:ea typeface="Work Sans Bold"/>
                  <a:cs typeface="Work Sans Bold"/>
                  <a:sym typeface="Work Sans Bold"/>
                </a:rPr>
                <a:t>03</a:t>
              </a: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0" y="2412291"/>
            <a:ext cx="18288000" cy="809625"/>
          </a:xfrm>
          <a:prstGeom prst="rect">
            <a:avLst/>
          </a:prstGeom>
        </p:spPr>
        <p:txBody>
          <a:bodyPr anchor="t" rtlCol="false" tIns="0" lIns="0" bIns="0" rIns="0">
            <a:spAutoFit/>
          </a:bodyPr>
          <a:lstStyle/>
          <a:p>
            <a:pPr algn="ctr">
              <a:lnSpc>
                <a:spcPts val="6000"/>
              </a:lnSpc>
            </a:pPr>
            <a:r>
              <a:rPr lang="en-US" b="true" sz="5000">
                <a:solidFill>
                  <a:srgbClr val="412A1D"/>
                </a:solidFill>
                <a:latin typeface="Poppins Bold"/>
                <a:ea typeface="Poppins Bold"/>
                <a:cs typeface="Poppins Bold"/>
                <a:sym typeface="Poppins Bold"/>
              </a:rPr>
              <a:t>Recommendation</a:t>
            </a:r>
          </a:p>
        </p:txBody>
      </p:sp>
      <p:sp>
        <p:nvSpPr>
          <p:cNvPr name="TextBox 3" id="3"/>
          <p:cNvSpPr txBox="true"/>
          <p:nvPr/>
        </p:nvSpPr>
        <p:spPr>
          <a:xfrm rot="0">
            <a:off x="2562326" y="4173155"/>
            <a:ext cx="13163347" cy="2804795"/>
          </a:xfrm>
          <a:prstGeom prst="rect">
            <a:avLst/>
          </a:prstGeom>
        </p:spPr>
        <p:txBody>
          <a:bodyPr anchor="t" rtlCol="false" tIns="0" lIns="0" bIns="0" rIns="0">
            <a:spAutoFit/>
          </a:bodyPr>
          <a:lstStyle/>
          <a:p>
            <a:pPr algn="l">
              <a:lnSpc>
                <a:spcPts val="4479"/>
              </a:lnSpc>
              <a:spcBef>
                <a:spcPct val="0"/>
              </a:spcBef>
            </a:pPr>
            <a:r>
              <a:rPr lang="en-US" sz="3199">
                <a:solidFill>
                  <a:srgbClr val="000000"/>
                </a:solidFill>
                <a:latin typeface="Work Sans"/>
                <a:ea typeface="Work Sans"/>
                <a:cs typeface="Work Sans"/>
                <a:sym typeface="Work Sans"/>
              </a:rPr>
              <a:t>In summary, t</a:t>
            </a:r>
            <a:r>
              <a:rPr lang="en-US" sz="3199">
                <a:solidFill>
                  <a:srgbClr val="000000"/>
                </a:solidFill>
                <a:latin typeface="Work Sans"/>
                <a:ea typeface="Work Sans"/>
                <a:cs typeface="Work Sans"/>
                <a:sym typeface="Work Sans"/>
              </a:rPr>
              <a:t>he business is profitable, but profitability is concentrated in a few products and factories.</a:t>
            </a:r>
          </a:p>
          <a:p>
            <a:pPr algn="l">
              <a:lnSpc>
                <a:spcPts val="4479"/>
              </a:lnSpc>
              <a:spcBef>
                <a:spcPct val="0"/>
              </a:spcBef>
            </a:pPr>
            <a:r>
              <a:rPr lang="en-US" sz="3199">
                <a:solidFill>
                  <a:srgbClr val="000000"/>
                </a:solidFill>
                <a:latin typeface="Work Sans"/>
                <a:ea typeface="Work Sans"/>
                <a:cs typeface="Work Sans"/>
                <a:sym typeface="Work Sans"/>
              </a:rPr>
              <a:t>Scaling high-margin products, improving or eliminating underperforming factories, and segmenting customers based on profitability are the key levers to sustainable growth.</a:t>
            </a:r>
          </a:p>
        </p:txBody>
      </p:sp>
      <p:sp>
        <p:nvSpPr>
          <p:cNvPr name="Freeform 4" id="4"/>
          <p:cNvSpPr/>
          <p:nvPr/>
        </p:nvSpPr>
        <p:spPr>
          <a:xfrm flipH="false" flipV="false" rot="0">
            <a:off x="11774310" y="-82522"/>
            <a:ext cx="7616472" cy="3179877"/>
          </a:xfrm>
          <a:custGeom>
            <a:avLst/>
            <a:gdLst/>
            <a:ahLst/>
            <a:cxnLst/>
            <a:rect r="r" b="b" t="t" l="l"/>
            <a:pathLst>
              <a:path h="3179877" w="7616472">
                <a:moveTo>
                  <a:pt x="0" y="0"/>
                </a:moveTo>
                <a:lnTo>
                  <a:pt x="7616472" y="0"/>
                </a:lnTo>
                <a:lnTo>
                  <a:pt x="7616472" y="3179877"/>
                </a:lnTo>
                <a:lnTo>
                  <a:pt x="0" y="317987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840525" y="1304985"/>
            <a:ext cx="6418775" cy="7953315"/>
            <a:chOff x="0" y="0"/>
            <a:chExt cx="1690542" cy="2094700"/>
          </a:xfrm>
        </p:grpSpPr>
        <p:sp>
          <p:nvSpPr>
            <p:cNvPr name="Freeform 3" id="3"/>
            <p:cNvSpPr/>
            <p:nvPr/>
          </p:nvSpPr>
          <p:spPr>
            <a:xfrm flipH="false" flipV="false" rot="0">
              <a:off x="0" y="0"/>
              <a:ext cx="1690542" cy="2094700"/>
            </a:xfrm>
            <a:custGeom>
              <a:avLst/>
              <a:gdLst/>
              <a:ahLst/>
              <a:cxnLst/>
              <a:rect r="r" b="b" t="t" l="l"/>
              <a:pathLst>
                <a:path h="2094700" w="1690542">
                  <a:moveTo>
                    <a:pt x="48245" y="0"/>
                  </a:moveTo>
                  <a:lnTo>
                    <a:pt x="1642296" y="0"/>
                  </a:lnTo>
                  <a:cubicBezTo>
                    <a:pt x="1668941" y="0"/>
                    <a:pt x="1690542" y="21600"/>
                    <a:pt x="1690542" y="48245"/>
                  </a:cubicBezTo>
                  <a:lnTo>
                    <a:pt x="1690542" y="2046455"/>
                  </a:lnTo>
                  <a:cubicBezTo>
                    <a:pt x="1690542" y="2059250"/>
                    <a:pt x="1685459" y="2071522"/>
                    <a:pt x="1676411" y="2080570"/>
                  </a:cubicBezTo>
                  <a:cubicBezTo>
                    <a:pt x="1667363" y="2089617"/>
                    <a:pt x="1655092" y="2094700"/>
                    <a:pt x="1642296" y="2094700"/>
                  </a:cubicBezTo>
                  <a:lnTo>
                    <a:pt x="48245" y="2094700"/>
                  </a:lnTo>
                  <a:cubicBezTo>
                    <a:pt x="21600" y="2094700"/>
                    <a:pt x="0" y="2073100"/>
                    <a:pt x="0" y="2046455"/>
                  </a:cubicBezTo>
                  <a:lnTo>
                    <a:pt x="0" y="48245"/>
                  </a:lnTo>
                  <a:cubicBezTo>
                    <a:pt x="0" y="35450"/>
                    <a:pt x="5083" y="23179"/>
                    <a:pt x="14131" y="14131"/>
                  </a:cubicBezTo>
                  <a:cubicBezTo>
                    <a:pt x="23179" y="5083"/>
                    <a:pt x="35450" y="0"/>
                    <a:pt x="48245" y="0"/>
                  </a:cubicBezTo>
                  <a:close/>
                </a:path>
              </a:pathLst>
            </a:custGeom>
            <a:solidFill>
              <a:srgbClr val="412A1D"/>
            </a:solidFill>
          </p:spPr>
        </p:sp>
        <p:sp>
          <p:nvSpPr>
            <p:cNvPr name="TextBox 4" id="4"/>
            <p:cNvSpPr txBox="true"/>
            <p:nvPr/>
          </p:nvSpPr>
          <p:spPr>
            <a:xfrm>
              <a:off x="0" y="-38100"/>
              <a:ext cx="1690542" cy="21328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1358714" y="1870482"/>
            <a:ext cx="5382398" cy="6822321"/>
            <a:chOff x="0" y="0"/>
            <a:chExt cx="812800" cy="1030244"/>
          </a:xfrm>
        </p:grpSpPr>
        <p:sp>
          <p:nvSpPr>
            <p:cNvPr name="Freeform 6" id="6"/>
            <p:cNvSpPr/>
            <p:nvPr/>
          </p:nvSpPr>
          <p:spPr>
            <a:xfrm flipH="false" flipV="false" rot="0">
              <a:off x="0" y="0"/>
              <a:ext cx="812800" cy="1030244"/>
            </a:xfrm>
            <a:custGeom>
              <a:avLst/>
              <a:gdLst/>
              <a:ahLst/>
              <a:cxnLst/>
              <a:rect r="r" b="b" t="t" l="l"/>
              <a:pathLst>
                <a:path h="1030244" w="812800">
                  <a:moveTo>
                    <a:pt x="43151" y="0"/>
                  </a:moveTo>
                  <a:lnTo>
                    <a:pt x="769649" y="0"/>
                  </a:lnTo>
                  <a:cubicBezTo>
                    <a:pt x="793480" y="0"/>
                    <a:pt x="812800" y="19320"/>
                    <a:pt x="812800" y="43151"/>
                  </a:cubicBezTo>
                  <a:lnTo>
                    <a:pt x="812800" y="987093"/>
                  </a:lnTo>
                  <a:cubicBezTo>
                    <a:pt x="812800" y="1010924"/>
                    <a:pt x="793480" y="1030244"/>
                    <a:pt x="769649" y="1030244"/>
                  </a:cubicBezTo>
                  <a:lnTo>
                    <a:pt x="43151" y="1030244"/>
                  </a:lnTo>
                  <a:cubicBezTo>
                    <a:pt x="19320" y="1030244"/>
                    <a:pt x="0" y="1010924"/>
                    <a:pt x="0" y="987093"/>
                  </a:cubicBezTo>
                  <a:lnTo>
                    <a:pt x="0" y="43151"/>
                  </a:lnTo>
                  <a:cubicBezTo>
                    <a:pt x="0" y="19320"/>
                    <a:pt x="19320" y="0"/>
                    <a:pt x="43151" y="0"/>
                  </a:cubicBezTo>
                  <a:close/>
                </a:path>
              </a:pathLst>
            </a:custGeom>
            <a:blipFill>
              <a:blip r:embed="rId3"/>
              <a:stretch>
                <a:fillRect l="-68297" t="0" r="-18791" b="0"/>
              </a:stretch>
            </a:blipFill>
          </p:spPr>
        </p:sp>
      </p:grpSp>
      <p:sp>
        <p:nvSpPr>
          <p:cNvPr name="TextBox 7" id="7"/>
          <p:cNvSpPr txBox="true"/>
          <p:nvPr/>
        </p:nvSpPr>
        <p:spPr>
          <a:xfrm rot="0">
            <a:off x="1028700" y="3986046"/>
            <a:ext cx="8904449" cy="1991057"/>
          </a:xfrm>
          <a:prstGeom prst="rect">
            <a:avLst/>
          </a:prstGeom>
        </p:spPr>
        <p:txBody>
          <a:bodyPr anchor="t" rtlCol="false" tIns="0" lIns="0" bIns="0" rIns="0">
            <a:spAutoFit/>
          </a:bodyPr>
          <a:lstStyle/>
          <a:p>
            <a:pPr algn="l">
              <a:lnSpc>
                <a:spcPts val="15448"/>
              </a:lnSpc>
              <a:spcBef>
                <a:spcPct val="0"/>
              </a:spcBef>
            </a:pPr>
            <a:r>
              <a:rPr lang="en-US" sz="11034" b="true">
                <a:solidFill>
                  <a:srgbClr val="412A1D"/>
                </a:solidFill>
                <a:latin typeface="Poppins Bold"/>
                <a:ea typeface="Poppins Bold"/>
                <a:cs typeface="Poppins Bold"/>
                <a:sym typeface="Poppins Bold"/>
              </a:rPr>
              <a:t>Thank You.</a:t>
            </a:r>
          </a:p>
        </p:txBody>
      </p:sp>
    </p:spTree>
  </p:cSld>
  <p:clrMapOvr>
    <a:masterClrMapping/>
  </p:clrMapOvr>
</p:sld>
</file>

<file path=ppt/slides/slide1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DAG7ZZt8aig</dc:identifier>
  <dcterms:modified xsi:type="dcterms:W3CDTF">2011-08-01T06:04:30Z</dcterms:modified>
  <cp:revision>1</cp:revision>
  <dc:title>Project 04 : Chocolate Factory</dc:title>
</cp:coreProperties>
</file>